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8" r:id="rId3"/>
    <p:sldId id="259" r:id="rId4"/>
    <p:sldId id="260" r:id="rId5"/>
    <p:sldId id="264" r:id="rId6"/>
    <p:sldId id="265" r:id="rId7"/>
    <p:sldId id="263" r:id="rId8"/>
    <p:sldId id="266" r:id="rId9"/>
    <p:sldId id="267" r:id="rId10"/>
    <p:sldId id="269" r:id="rId11"/>
    <p:sldId id="262" r:id="rId12"/>
    <p:sldId id="261" r:id="rId13"/>
    <p:sldId id="270" r:id="rId14"/>
    <p:sldId id="271" r:id="rId15"/>
    <p:sldId id="272" r:id="rId16"/>
    <p:sldId id="257" r:id="rId17"/>
    <p:sldId id="273" r:id="rId18"/>
    <p:sldId id="258" r:id="rId19"/>
    <p:sldId id="274" r:id="rId20"/>
    <p:sldId id="275" r:id="rId21"/>
    <p:sldId id="276" r:id="rId22"/>
    <p:sldId id="277" r:id="rId23"/>
    <p:sldId id="278" r:id="rId24"/>
    <p:sldId id="279" r:id="rId25"/>
    <p:sldId id="281" r:id="rId26"/>
    <p:sldId id="282" r:id="rId27"/>
    <p:sldId id="291" r:id="rId28"/>
    <p:sldId id="283" r:id="rId29"/>
    <p:sldId id="284" r:id="rId30"/>
    <p:sldId id="286" r:id="rId31"/>
    <p:sldId id="287" r:id="rId32"/>
    <p:sldId id="290" r:id="rId33"/>
    <p:sldId id="292" r:id="rId34"/>
    <p:sldId id="293" r:id="rId35"/>
    <p:sldId id="294" r:id="rId36"/>
    <p:sldId id="295" r:id="rId37"/>
    <p:sldId id="288" r:id="rId38"/>
    <p:sldId id="289" r:id="rId39"/>
    <p:sldId id="285" r:id="rId40"/>
    <p:sldId id="280"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8/7/2026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8/7/2026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8/7/2026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E78D358-0CCD-34F2-D7BF-EAE92603DC42}"/>
              </a:ext>
            </a:extLst>
          </p:cNvPr>
          <p:cNvSpPr>
            <a:spLocks noGrp="1"/>
          </p:cNvSpPr>
          <p:nvPr>
            <p:ph type="ctrTitle"/>
          </p:nvPr>
        </p:nvSpPr>
        <p:spPr>
          <a:xfrm>
            <a:off x="3451123" y="1322952"/>
            <a:ext cx="8033467" cy="4775437"/>
          </a:xfrm>
        </p:spPr>
        <p:txBody>
          <a:bodyPr>
            <a:normAutofit/>
          </a:bodyPr>
          <a:lstStyle/>
          <a:p>
            <a:r>
              <a:rPr lang="en-US" sz="4400" dirty="0">
                <a:latin typeface="Algerian" panose="04020705040A02060702" pitchFamily="82" charset="0"/>
              </a:rPr>
              <a:t>IITI-SoC 2026</a:t>
            </a:r>
            <a:br>
              <a:rPr lang="en-US" sz="4400" dirty="0">
                <a:latin typeface="Algerian" panose="04020705040A02060702" pitchFamily="82" charset="0"/>
              </a:rPr>
            </a:br>
            <a:br>
              <a:rPr lang="en-US" sz="1400" dirty="0"/>
            </a:br>
            <a:r>
              <a:rPr lang="en-US" sz="3600" dirty="0"/>
              <a:t>Astronomy domain</a:t>
            </a:r>
            <a:br>
              <a:rPr lang="en-US" sz="3600" dirty="0"/>
            </a:br>
            <a:r>
              <a:rPr lang="en-US" sz="3600" dirty="0"/>
              <a:t>PS:- Modeling THE structure of PROTOPLANETARY DISCS  </a:t>
            </a:r>
            <a:br>
              <a:rPr lang="en-US" sz="3600" dirty="0"/>
            </a:br>
            <a:r>
              <a:rPr lang="en-US" sz="3600" dirty="0"/>
              <a:t>TEAM Members :-</a:t>
            </a:r>
            <a:br>
              <a:rPr lang="en-US" sz="3600" dirty="0"/>
            </a:br>
            <a:r>
              <a:rPr lang="en-US" sz="3600" dirty="0"/>
              <a:t>VEDANT , YASH</a:t>
            </a:r>
            <a:br>
              <a:rPr lang="en-US" sz="3600" dirty="0"/>
            </a:br>
            <a:r>
              <a:rPr lang="en-US" sz="3600" dirty="0"/>
              <a:t>SHIVAM , samyak</a:t>
            </a:r>
          </a:p>
        </p:txBody>
      </p:sp>
      <p:pic>
        <p:nvPicPr>
          <p:cNvPr id="9" name="Picture 8">
            <a:extLst>
              <a:ext uri="{FF2B5EF4-FFF2-40B4-BE49-F238E27FC236}">
                <a16:creationId xmlns:a16="http://schemas.microsoft.com/office/drawing/2014/main" id="{9592922C-406B-D5AC-2C88-A5774AA49ABE}"/>
              </a:ext>
            </a:extLst>
          </p:cNvPr>
          <p:cNvPicPr>
            <a:picLocks noChangeAspect="1"/>
          </p:cNvPicPr>
          <p:nvPr/>
        </p:nvPicPr>
        <p:blipFill>
          <a:blip r:embed="rId2"/>
          <a:stretch>
            <a:fillRect/>
          </a:stretch>
        </p:blipFill>
        <p:spPr>
          <a:xfrm>
            <a:off x="687746" y="3856122"/>
            <a:ext cx="2429080" cy="2429080"/>
          </a:xfrm>
          <a:prstGeom prst="rect">
            <a:avLst/>
          </a:prstGeom>
        </p:spPr>
      </p:pic>
      <p:pic>
        <p:nvPicPr>
          <p:cNvPr id="11" name="Picture 10">
            <a:extLst>
              <a:ext uri="{FF2B5EF4-FFF2-40B4-BE49-F238E27FC236}">
                <a16:creationId xmlns:a16="http://schemas.microsoft.com/office/drawing/2014/main" id="{DD21E310-C2A2-8A87-47B8-200D72773AD3}"/>
              </a:ext>
            </a:extLst>
          </p:cNvPr>
          <p:cNvPicPr>
            <a:picLocks noChangeAspect="1"/>
          </p:cNvPicPr>
          <p:nvPr/>
        </p:nvPicPr>
        <p:blipFill>
          <a:blip r:embed="rId3"/>
          <a:stretch>
            <a:fillRect/>
          </a:stretch>
        </p:blipFill>
        <p:spPr>
          <a:xfrm>
            <a:off x="687745" y="572798"/>
            <a:ext cx="2429081" cy="2629621"/>
          </a:xfrm>
          <a:prstGeom prst="rect">
            <a:avLst/>
          </a:prstGeom>
        </p:spPr>
      </p:pic>
    </p:spTree>
    <p:extLst>
      <p:ext uri="{BB962C8B-B14F-4D97-AF65-F5344CB8AC3E}">
        <p14:creationId xmlns:p14="http://schemas.microsoft.com/office/powerpoint/2010/main" val="59924381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FA474-1B72-104B-9924-FCF0973A62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1233B8-3AD0-EE56-5689-012EA4480F61}"/>
              </a:ext>
            </a:extLst>
          </p:cNvPr>
          <p:cNvSpPr>
            <a:spLocks noGrp="1"/>
          </p:cNvSpPr>
          <p:nvPr>
            <p:ph type="title"/>
          </p:nvPr>
        </p:nvSpPr>
        <p:spPr>
          <a:xfrm>
            <a:off x="4363720" y="2700866"/>
            <a:ext cx="3464560" cy="1456267"/>
          </a:xfrm>
        </p:spPr>
        <p:txBody>
          <a:bodyPr>
            <a:normAutofit/>
          </a:bodyPr>
          <a:lstStyle/>
          <a:p>
            <a:r>
              <a:rPr lang="en-US" sz="4000" dirty="0"/>
              <a:t>INTRODUCTION</a:t>
            </a:r>
          </a:p>
        </p:txBody>
      </p:sp>
    </p:spTree>
    <p:extLst>
      <p:ext uri="{BB962C8B-B14F-4D97-AF65-F5344CB8AC3E}">
        <p14:creationId xmlns:p14="http://schemas.microsoft.com/office/powerpoint/2010/main" val="421768898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3662DC-30A8-AE08-7B80-339E7CADC72B}"/>
              </a:ext>
            </a:extLst>
          </p:cNvPr>
          <p:cNvPicPr>
            <a:picLocks noChangeAspect="1"/>
          </p:cNvPicPr>
          <p:nvPr/>
        </p:nvPicPr>
        <p:blipFill>
          <a:blip r:embed="rId2"/>
          <a:stretch>
            <a:fillRect/>
          </a:stretch>
        </p:blipFill>
        <p:spPr>
          <a:xfrm>
            <a:off x="-98323" y="-155596"/>
            <a:ext cx="12388645" cy="7169191"/>
          </a:xfrm>
          <a:prstGeom prst="rect">
            <a:avLst/>
          </a:prstGeom>
        </p:spPr>
      </p:pic>
      <p:sp>
        <p:nvSpPr>
          <p:cNvPr id="6" name="Title 1">
            <a:extLst>
              <a:ext uri="{FF2B5EF4-FFF2-40B4-BE49-F238E27FC236}">
                <a16:creationId xmlns:a16="http://schemas.microsoft.com/office/drawing/2014/main" id="{06E13DE3-09B7-8EA8-8552-C9BDF35B1DD5}"/>
              </a:ext>
            </a:extLst>
          </p:cNvPr>
          <p:cNvSpPr txBox="1">
            <a:spLocks/>
          </p:cNvSpPr>
          <p:nvPr/>
        </p:nvSpPr>
        <p:spPr>
          <a:xfrm>
            <a:off x="309460" y="194392"/>
            <a:ext cx="10570190" cy="1804355"/>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Modeling the Structure and Evolution of Protoplanetary Disks</a:t>
            </a:r>
          </a:p>
        </p:txBody>
      </p:sp>
      <p:sp>
        <p:nvSpPr>
          <p:cNvPr id="8" name="TextBox 7">
            <a:extLst>
              <a:ext uri="{FF2B5EF4-FFF2-40B4-BE49-F238E27FC236}">
                <a16:creationId xmlns:a16="http://schemas.microsoft.com/office/drawing/2014/main" id="{B4642E2C-CF9F-0B5F-4BD5-0D13572D04A3}"/>
              </a:ext>
            </a:extLst>
          </p:cNvPr>
          <p:cNvSpPr txBox="1"/>
          <p:nvPr/>
        </p:nvSpPr>
        <p:spPr>
          <a:xfrm>
            <a:off x="526025" y="5358580"/>
            <a:ext cx="11139948" cy="1015663"/>
          </a:xfrm>
          <a:prstGeom prst="rect">
            <a:avLst/>
          </a:prstGeom>
          <a:noFill/>
        </p:spPr>
        <p:txBody>
          <a:bodyPr wrap="square">
            <a:spAutoFit/>
          </a:bodyPr>
          <a:lstStyle/>
          <a:p>
            <a:r>
              <a:rPr lang="en-US" sz="2000" dirty="0"/>
              <a:t>Protoplanetary disks are rotating disks of gas and dust surrounding newly formed stars. These disks serve as the birthplaces of planets, moons, asteroids, and other planetary system components. Understanding their structure and evolution is one of the central problems in modern astrophysics and planetary science.</a:t>
            </a:r>
          </a:p>
        </p:txBody>
      </p:sp>
    </p:spTree>
    <p:extLst>
      <p:ext uri="{BB962C8B-B14F-4D97-AF65-F5344CB8AC3E}">
        <p14:creationId xmlns:p14="http://schemas.microsoft.com/office/powerpoint/2010/main" val="68353420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EA4036-F2F2-4C3B-CE10-0ADB9E2F470A}"/>
              </a:ext>
            </a:extLst>
          </p:cNvPr>
          <p:cNvPicPr>
            <a:picLocks noChangeAspect="1"/>
          </p:cNvPicPr>
          <p:nvPr/>
        </p:nvPicPr>
        <p:blipFill>
          <a:blip r:embed="rId2"/>
          <a:srcRect l="8424" t="3931" r="10107" b="5897"/>
          <a:stretch>
            <a:fillRect/>
          </a:stretch>
        </p:blipFill>
        <p:spPr>
          <a:xfrm>
            <a:off x="412954" y="364138"/>
            <a:ext cx="7384026" cy="6129723"/>
          </a:xfrm>
          <a:prstGeom prst="rect">
            <a:avLst/>
          </a:prstGeom>
        </p:spPr>
      </p:pic>
      <p:sp>
        <p:nvSpPr>
          <p:cNvPr id="6" name="TextBox 5">
            <a:extLst>
              <a:ext uri="{FF2B5EF4-FFF2-40B4-BE49-F238E27FC236}">
                <a16:creationId xmlns:a16="http://schemas.microsoft.com/office/drawing/2014/main" id="{0FF92727-8FA5-C721-13AB-36FA608E6447}"/>
              </a:ext>
            </a:extLst>
          </p:cNvPr>
          <p:cNvSpPr txBox="1"/>
          <p:nvPr/>
        </p:nvSpPr>
        <p:spPr>
          <a:xfrm>
            <a:off x="7973961" y="639097"/>
            <a:ext cx="3962401" cy="5943165"/>
          </a:xfrm>
          <a:prstGeom prst="rect">
            <a:avLst/>
          </a:prstGeom>
          <a:noFill/>
        </p:spPr>
        <p:txBody>
          <a:bodyPr wrap="square">
            <a:spAutoFit/>
          </a:bodyPr>
          <a:lstStyle/>
          <a:p>
            <a:pPr marL="0" marR="0">
              <a:lnSpc>
                <a:spcPct val="115000"/>
              </a:lnSpc>
              <a:spcAft>
                <a:spcPts val="800"/>
              </a:spcAft>
              <a:buNone/>
            </a:pPr>
            <a:r>
              <a:rPr lang="en-US" sz="2000" kern="100" dirty="0">
                <a:effectLst/>
                <a:latin typeface="Aptos" panose="020B0004020202020204" pitchFamily="34" charset="0"/>
                <a:ea typeface="Aptos" panose="020B0004020202020204" pitchFamily="34" charset="0"/>
                <a:cs typeface="Mangal" panose="02040503050203030202" pitchFamily="18" charset="0"/>
              </a:rPr>
              <a:t>These disks typically survive for about 3 to 10 million years, during which dust grains grow, collide, form planetesimals, and eventually give rise to planets.</a:t>
            </a:r>
            <a:endParaRPr lang="en-US" sz="1000" kern="100" dirty="0">
              <a:effectLst/>
              <a:latin typeface="Aptos" panose="020B0004020202020204" pitchFamily="34" charset="0"/>
              <a:ea typeface="Aptos" panose="020B0004020202020204" pitchFamily="34" charset="0"/>
              <a:cs typeface="Mangal" panose="02040503050203030202" pitchFamily="18" charset="0"/>
            </a:endParaRPr>
          </a:p>
          <a:p>
            <a:pPr marL="0" marR="0">
              <a:lnSpc>
                <a:spcPct val="115000"/>
              </a:lnSpc>
              <a:spcAft>
                <a:spcPts val="800"/>
              </a:spcAft>
              <a:buNone/>
            </a:pPr>
            <a:r>
              <a:rPr lang="en-US" sz="1000" kern="100" dirty="0">
                <a:effectLst/>
                <a:latin typeface="Aptos" panose="020B0004020202020204" pitchFamily="34" charset="0"/>
                <a:ea typeface="Aptos" panose="020B0004020202020204" pitchFamily="34" charset="0"/>
                <a:cs typeface="Mangal" panose="02040503050203030202" pitchFamily="18" charset="0"/>
              </a:rPr>
              <a:t> </a:t>
            </a:r>
            <a:endParaRPr lang="en-US" sz="700" kern="100" dirty="0">
              <a:effectLst/>
              <a:latin typeface="Aptos" panose="020B0004020202020204" pitchFamily="34" charset="0"/>
              <a:ea typeface="Aptos" panose="020B0004020202020204" pitchFamily="34" charset="0"/>
              <a:cs typeface="Mangal" panose="02040503050203030202" pitchFamily="18" charset="0"/>
            </a:endParaRPr>
          </a:p>
          <a:p>
            <a:pPr marL="0" marR="0">
              <a:lnSpc>
                <a:spcPct val="115000"/>
              </a:lnSpc>
              <a:spcAft>
                <a:spcPts val="800"/>
              </a:spcAft>
              <a:buNone/>
            </a:pPr>
            <a:r>
              <a:rPr lang="en-US" sz="2000" kern="100" dirty="0">
                <a:effectLst/>
                <a:latin typeface="Aptos" panose="020B0004020202020204" pitchFamily="34" charset="0"/>
                <a:ea typeface="Aptos" panose="020B0004020202020204" pitchFamily="34" charset="0"/>
                <a:cs typeface="Mangal" panose="02040503050203030202" pitchFamily="18" charset="0"/>
              </a:rPr>
              <a:t>A typical protoplanetary disk consists of approximately 99% gas, primarily hydrogen and helium, and about 1% dust made of silicates, carbonaceous material, and various ices. The disk may extend from fractions of an astronomical unit (AU) close to the star to several hundred AU in the outer regions.</a:t>
            </a:r>
          </a:p>
        </p:txBody>
      </p:sp>
    </p:spTree>
    <p:extLst>
      <p:ext uri="{BB962C8B-B14F-4D97-AF65-F5344CB8AC3E}">
        <p14:creationId xmlns:p14="http://schemas.microsoft.com/office/powerpoint/2010/main" val="234123490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E61FA4-4E0E-560B-2E68-D8D994EDB3C5}"/>
              </a:ext>
            </a:extLst>
          </p:cNvPr>
          <p:cNvPicPr>
            <a:picLocks noChangeAspect="1"/>
          </p:cNvPicPr>
          <p:nvPr/>
        </p:nvPicPr>
        <p:blipFill rotWithShape="1">
          <a:blip r:embed="rId2"/>
          <a:srcRect l="1557" t="-381" r="1557" b="381"/>
          <a:stretch>
            <a:fillRect/>
          </a:stretch>
        </p:blipFill>
        <p:spPr>
          <a:xfrm>
            <a:off x="0" y="763693"/>
            <a:ext cx="12192000" cy="5330614"/>
          </a:xfrm>
          <a:prstGeom prst="rect">
            <a:avLst/>
          </a:prstGeom>
        </p:spPr>
      </p:pic>
    </p:spTree>
    <p:extLst>
      <p:ext uri="{BB962C8B-B14F-4D97-AF65-F5344CB8AC3E}">
        <p14:creationId xmlns:p14="http://schemas.microsoft.com/office/powerpoint/2010/main" val="203102730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mall and large planets have significantly different upbringings,  researchers find | UCLA">
            <a:extLst>
              <a:ext uri="{FF2B5EF4-FFF2-40B4-BE49-F238E27FC236}">
                <a16:creationId xmlns:a16="http://schemas.microsoft.com/office/drawing/2014/main" id="{BACD47EB-E19E-C56D-D162-9EFF8BC58532}"/>
              </a:ext>
            </a:extLst>
          </p:cNvPr>
          <p:cNvPicPr>
            <a:picLocks noChangeAspect="1"/>
          </p:cNvPicPr>
          <p:nvPr/>
        </p:nvPicPr>
        <p:blipFill>
          <a:blip r:embed="rId2"/>
          <a:stretch>
            <a:fillRect/>
          </a:stretch>
        </p:blipFill>
        <p:spPr>
          <a:xfrm>
            <a:off x="741680" y="417571"/>
            <a:ext cx="10708640" cy="6022857"/>
          </a:xfrm>
          <a:prstGeom prst="rect">
            <a:avLst/>
          </a:prstGeom>
        </p:spPr>
      </p:pic>
    </p:spTree>
    <p:extLst>
      <p:ext uri="{BB962C8B-B14F-4D97-AF65-F5344CB8AC3E}">
        <p14:creationId xmlns:p14="http://schemas.microsoft.com/office/powerpoint/2010/main" val="46991407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80D314-F90A-E448-DFC4-479D323569E9}"/>
              </a:ext>
            </a:extLst>
          </p:cNvPr>
          <p:cNvPicPr>
            <a:picLocks noChangeAspect="1"/>
          </p:cNvPicPr>
          <p:nvPr/>
        </p:nvPicPr>
        <p:blipFill>
          <a:blip r:embed="rId2"/>
          <a:stretch>
            <a:fillRect/>
          </a:stretch>
        </p:blipFill>
        <p:spPr>
          <a:xfrm>
            <a:off x="1010111" y="260010"/>
            <a:ext cx="10171778" cy="6337979"/>
          </a:xfrm>
          <a:prstGeom prst="rect">
            <a:avLst/>
          </a:prstGeom>
        </p:spPr>
      </p:pic>
    </p:spTree>
    <p:extLst>
      <p:ext uri="{BB962C8B-B14F-4D97-AF65-F5344CB8AC3E}">
        <p14:creationId xmlns:p14="http://schemas.microsoft.com/office/powerpoint/2010/main" val="288205253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30597F-0DD5-8BE5-BB36-56FB29AA2F27}"/>
              </a:ext>
            </a:extLst>
          </p:cNvPr>
          <p:cNvSpPr txBox="1"/>
          <p:nvPr/>
        </p:nvSpPr>
        <p:spPr>
          <a:xfrm>
            <a:off x="635000" y="3608369"/>
            <a:ext cx="10922000" cy="1569660"/>
          </a:xfrm>
          <a:prstGeom prst="rect">
            <a:avLst/>
          </a:prstGeom>
          <a:noFill/>
        </p:spPr>
        <p:txBody>
          <a:bodyPr wrap="square">
            <a:spAutoFit/>
          </a:bodyPr>
          <a:lstStyle/>
          <a:p>
            <a:pPr algn="l"/>
            <a:r>
              <a:rPr lang="en-US" sz="2400" b="0" i="0" u="none" strike="noStrike" baseline="0" dirty="0">
                <a:latin typeface="CMR12"/>
              </a:rPr>
              <a:t>Complex physical processes such as radiative transfer, chemistry, magnetic fields, dust settling, planet–disk interactions, and time-dependent viscous evolution are excluded from the baseline implementation in order to maintain computational simplicity.</a:t>
            </a:r>
          </a:p>
          <a:p>
            <a:pPr algn="l"/>
            <a:r>
              <a:rPr lang="en-US" sz="2400" b="0" i="0" u="none" strike="noStrike" baseline="0" dirty="0">
                <a:latin typeface="CMR12"/>
              </a:rPr>
              <a:t>These features are identified as future extensions of the project.</a:t>
            </a:r>
            <a:endParaRPr lang="en-US" sz="2400" dirty="0"/>
          </a:p>
        </p:txBody>
      </p:sp>
      <p:sp>
        <p:nvSpPr>
          <p:cNvPr id="7" name="TextBox 6">
            <a:extLst>
              <a:ext uri="{FF2B5EF4-FFF2-40B4-BE49-F238E27FC236}">
                <a16:creationId xmlns:a16="http://schemas.microsoft.com/office/drawing/2014/main" id="{FB3A6A40-77F3-DF35-69F4-522A7921C9A8}"/>
              </a:ext>
            </a:extLst>
          </p:cNvPr>
          <p:cNvSpPr txBox="1"/>
          <p:nvPr/>
        </p:nvSpPr>
        <p:spPr>
          <a:xfrm>
            <a:off x="635000" y="1310640"/>
            <a:ext cx="10922000" cy="1938992"/>
          </a:xfrm>
          <a:prstGeom prst="rect">
            <a:avLst/>
          </a:prstGeom>
          <a:noFill/>
        </p:spPr>
        <p:txBody>
          <a:bodyPr wrap="square">
            <a:spAutoFit/>
          </a:bodyPr>
          <a:lstStyle/>
          <a:p>
            <a:pPr algn="l"/>
            <a:r>
              <a:rPr lang="en-US" sz="2400" dirty="0">
                <a:latin typeface="CMR12"/>
              </a:rPr>
              <a:t>The present implementation models a static, axisymmetric, passively irradiated protoplanetary disk under the assumption of vertical hydrostatic equilibrium. The simulator computes the radial temperature profile, surface density distribution, pressure scale height, Keplerian rotational velocity, and the resulting two-dimensional gas density structure</a:t>
            </a:r>
            <a:r>
              <a:rPr lang="en-US" sz="2400" b="0" i="0" u="none" strike="noStrike" baseline="0" dirty="0">
                <a:latin typeface="CMR12"/>
              </a:rPr>
              <a:t>.</a:t>
            </a:r>
            <a:endParaRPr lang="en-US" sz="2400" dirty="0"/>
          </a:p>
        </p:txBody>
      </p:sp>
    </p:spTree>
    <p:extLst>
      <p:ext uri="{BB962C8B-B14F-4D97-AF65-F5344CB8AC3E}">
        <p14:creationId xmlns:p14="http://schemas.microsoft.com/office/powerpoint/2010/main" val="313502438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C65ED-B334-0597-55C9-BEC90565F80E}"/>
              </a:ext>
            </a:extLst>
          </p:cNvPr>
          <p:cNvSpPr>
            <a:spLocks noGrp="1"/>
          </p:cNvSpPr>
          <p:nvPr>
            <p:ph type="title"/>
          </p:nvPr>
        </p:nvSpPr>
        <p:spPr>
          <a:xfrm>
            <a:off x="3474720" y="2700866"/>
            <a:ext cx="5242560" cy="1456267"/>
          </a:xfrm>
        </p:spPr>
        <p:txBody>
          <a:bodyPr>
            <a:normAutofit/>
          </a:bodyPr>
          <a:lstStyle/>
          <a:p>
            <a:r>
              <a:rPr lang="en-US" sz="4000" dirty="0"/>
              <a:t>Physical Assumptions</a:t>
            </a:r>
          </a:p>
        </p:txBody>
      </p:sp>
    </p:spTree>
    <p:extLst>
      <p:ext uri="{BB962C8B-B14F-4D97-AF65-F5344CB8AC3E}">
        <p14:creationId xmlns:p14="http://schemas.microsoft.com/office/powerpoint/2010/main" val="193749877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09CC7F5-B644-2B99-D618-8FD9EF1643F3}"/>
              </a:ext>
            </a:extLst>
          </p:cNvPr>
          <p:cNvSpPr txBox="1"/>
          <p:nvPr/>
        </p:nvSpPr>
        <p:spPr>
          <a:xfrm>
            <a:off x="721360" y="1476948"/>
            <a:ext cx="10749280" cy="1200329"/>
          </a:xfrm>
          <a:prstGeom prst="rect">
            <a:avLst/>
          </a:prstGeom>
          <a:noFill/>
        </p:spPr>
        <p:txBody>
          <a:bodyPr wrap="square">
            <a:spAutoFit/>
          </a:bodyPr>
          <a:lstStyle/>
          <a:p>
            <a:pPr algn="l"/>
            <a:r>
              <a:rPr lang="en-US" sz="2400" dirty="0">
                <a:latin typeface="CMR12"/>
              </a:rPr>
              <a:t>The disk is represented in a cylindrical coordinate system (R, ϕ, z), where R denotes the radial distance from the central star, ϕ represents the azimuthal angle, and z is the height above the disk midplane. </a:t>
            </a:r>
          </a:p>
        </p:txBody>
      </p:sp>
      <p:sp>
        <p:nvSpPr>
          <p:cNvPr id="7" name="TextBox 6">
            <a:extLst>
              <a:ext uri="{FF2B5EF4-FFF2-40B4-BE49-F238E27FC236}">
                <a16:creationId xmlns:a16="http://schemas.microsoft.com/office/drawing/2014/main" id="{A84F2AF5-BD22-9CAA-56BC-3D4BDBB0E431}"/>
              </a:ext>
            </a:extLst>
          </p:cNvPr>
          <p:cNvSpPr txBox="1"/>
          <p:nvPr/>
        </p:nvSpPr>
        <p:spPr>
          <a:xfrm>
            <a:off x="721360" y="2886134"/>
            <a:ext cx="10850880" cy="3062377"/>
          </a:xfrm>
          <a:prstGeom prst="rect">
            <a:avLst/>
          </a:prstGeom>
          <a:noFill/>
        </p:spPr>
        <p:txBody>
          <a:bodyPr wrap="square">
            <a:spAutoFit/>
          </a:bodyPr>
          <a:lstStyle/>
          <a:p>
            <a:r>
              <a:rPr lang="en-US" sz="2400" dirty="0">
                <a:latin typeface="CMR12"/>
              </a:rPr>
              <a:t>Owing to the approximately axisymmetric nature of most observed protoplanetary disks, The disk is assumed to possess rotational symmetry about the central star. Consequently, all physical quantities are considered independent of the azimuthal coordinate (ϕ) and depend only on the radial distance and height above the midplane,</a:t>
            </a:r>
          </a:p>
          <a:p>
            <a:r>
              <a:rPr lang="en-US" sz="1400" dirty="0">
                <a:latin typeface="CMR12"/>
              </a:rPr>
              <a:t> </a:t>
            </a:r>
          </a:p>
          <a:p>
            <a:pPr algn="ctr"/>
            <a:r>
              <a:rPr lang="en-US" sz="2400" dirty="0">
                <a:latin typeface="CMR12"/>
              </a:rPr>
              <a:t>ρ = ρ(R, z). </a:t>
            </a:r>
          </a:p>
          <a:p>
            <a:pPr algn="ctr"/>
            <a:endParaRPr lang="en-US" sz="1100" dirty="0">
              <a:latin typeface="CMR12"/>
            </a:endParaRPr>
          </a:p>
          <a:p>
            <a:r>
              <a:rPr lang="en-US" sz="2400" dirty="0">
                <a:latin typeface="CMR12"/>
              </a:rPr>
              <a:t>This assumption neglects spiral arms, vortices, warps and other localized asymmetries, reducing the problem to a two-dimensional (R, z) description.</a:t>
            </a:r>
          </a:p>
        </p:txBody>
      </p:sp>
      <p:sp>
        <p:nvSpPr>
          <p:cNvPr id="11" name="TextBox 10">
            <a:extLst>
              <a:ext uri="{FF2B5EF4-FFF2-40B4-BE49-F238E27FC236}">
                <a16:creationId xmlns:a16="http://schemas.microsoft.com/office/drawing/2014/main" id="{51435199-6DF1-2783-E0A3-C3E28765E509}"/>
              </a:ext>
            </a:extLst>
          </p:cNvPr>
          <p:cNvSpPr txBox="1"/>
          <p:nvPr/>
        </p:nvSpPr>
        <p:spPr>
          <a:xfrm>
            <a:off x="955040" y="640612"/>
            <a:ext cx="10281920" cy="627479"/>
          </a:xfrm>
          <a:prstGeom prst="rect">
            <a:avLst/>
          </a:prstGeom>
          <a:noFill/>
        </p:spPr>
        <p:txBody>
          <a:bodyPr wrap="square">
            <a:spAutoFit/>
          </a:bodyPr>
          <a:lstStyle/>
          <a:p>
            <a:pPr marL="0" marR="0" algn="ctr">
              <a:lnSpc>
                <a:spcPct val="115000"/>
              </a:lnSpc>
              <a:spcAft>
                <a:spcPts val="800"/>
              </a:spcAft>
              <a:buNone/>
            </a:pPr>
            <a:r>
              <a:rPr lang="en-US" sz="3200" kern="100" dirty="0">
                <a:effectLst/>
                <a:latin typeface="Algerian" panose="04020705040A02060702" pitchFamily="82" charset="0"/>
                <a:ea typeface="Aptos" panose="020B0004020202020204" pitchFamily="34" charset="0"/>
                <a:cs typeface="Mangal" panose="02040503050203030202" pitchFamily="18" charset="0"/>
              </a:rPr>
              <a:t>Axisymmetric Disk </a:t>
            </a:r>
            <a:r>
              <a:rPr lang="en-US" sz="3200" kern="100" dirty="0">
                <a:latin typeface="Algerian" panose="04020705040A02060702" pitchFamily="82" charset="0"/>
                <a:ea typeface="Aptos" panose="020B0004020202020204" pitchFamily="34" charset="0"/>
                <a:cs typeface="Mangal" panose="02040503050203030202" pitchFamily="18" charset="0"/>
              </a:rPr>
              <a:t>assumption</a:t>
            </a:r>
            <a:endParaRPr lang="en-US" sz="3200" kern="100" dirty="0">
              <a:effectLst/>
              <a:latin typeface="Aptos" panose="020B0004020202020204" pitchFamily="34" charset="0"/>
              <a:ea typeface="Aptos" panose="020B0004020202020204" pitchFamily="34" charset="0"/>
              <a:cs typeface="Mangal" panose="02040503050203030202" pitchFamily="18" charset="0"/>
            </a:endParaRPr>
          </a:p>
        </p:txBody>
      </p:sp>
    </p:spTree>
    <p:extLst>
      <p:ext uri="{BB962C8B-B14F-4D97-AF65-F5344CB8AC3E}">
        <p14:creationId xmlns:p14="http://schemas.microsoft.com/office/powerpoint/2010/main" val="337284233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8427C0A-2211-F69D-B763-BA8E3E10DDDE}"/>
              </a:ext>
            </a:extLst>
          </p:cNvPr>
          <p:cNvPicPr>
            <a:picLocks noChangeAspect="1"/>
          </p:cNvPicPr>
          <p:nvPr/>
        </p:nvPicPr>
        <p:blipFill>
          <a:blip r:embed="rId2"/>
          <a:stretch>
            <a:fillRect/>
          </a:stretch>
        </p:blipFill>
        <p:spPr>
          <a:xfrm>
            <a:off x="1203837" y="277657"/>
            <a:ext cx="10329402" cy="6302686"/>
          </a:xfrm>
          <a:prstGeom prst="rect">
            <a:avLst/>
          </a:prstGeom>
        </p:spPr>
      </p:pic>
    </p:spTree>
    <p:extLst>
      <p:ext uri="{BB962C8B-B14F-4D97-AF65-F5344CB8AC3E}">
        <p14:creationId xmlns:p14="http://schemas.microsoft.com/office/powerpoint/2010/main" val="110712781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B21E37-BEFF-70EA-03ED-280172896E75}"/>
              </a:ext>
            </a:extLst>
          </p:cNvPr>
          <p:cNvSpPr txBox="1"/>
          <p:nvPr/>
        </p:nvSpPr>
        <p:spPr>
          <a:xfrm>
            <a:off x="884531" y="963197"/>
            <a:ext cx="4621533" cy="4931606"/>
          </a:xfrm>
          <a:prstGeom prst="rect">
            <a:avLst/>
          </a:prstGeom>
          <a:noFill/>
        </p:spPr>
        <p:txBody>
          <a:bodyPr wrap="square">
            <a:spAutoFit/>
          </a:bodyPr>
          <a:lstStyle/>
          <a:p>
            <a:pPr marL="0" marR="0">
              <a:lnSpc>
                <a:spcPct val="115000"/>
              </a:lnSpc>
              <a:spcAft>
                <a:spcPts val="800"/>
              </a:spcAft>
              <a:buNone/>
            </a:pPr>
            <a:r>
              <a:rPr lang="en-US" sz="3200" kern="100" dirty="0">
                <a:effectLst/>
                <a:latin typeface="Algerian" panose="04020705040A02060702" pitchFamily="82" charset="0"/>
                <a:ea typeface="Aptos" panose="020B0004020202020204" pitchFamily="34" charset="0"/>
                <a:cs typeface="Mangal" panose="02040503050203030202" pitchFamily="18" charset="0"/>
              </a:rPr>
              <a:t>Geometrically Thin Disk Approximation</a:t>
            </a:r>
            <a:endParaRPr lang="en-US" sz="3200" kern="100" dirty="0">
              <a:effectLst/>
              <a:latin typeface="Aptos" panose="020B0004020202020204" pitchFamily="34" charset="0"/>
              <a:ea typeface="Aptos" panose="020B0004020202020204" pitchFamily="34" charset="0"/>
              <a:cs typeface="Mangal" panose="02040503050203030202" pitchFamily="18" charset="0"/>
            </a:endParaRPr>
          </a:p>
          <a:p>
            <a:pPr marL="0" marR="0">
              <a:lnSpc>
                <a:spcPct val="115000"/>
              </a:lnSpc>
              <a:spcAft>
                <a:spcPts val="800"/>
              </a:spcAft>
              <a:buNone/>
            </a:pPr>
            <a:r>
              <a:rPr lang="en-US" kern="100" dirty="0">
                <a:effectLst/>
                <a:latin typeface="Aptos" panose="020B0004020202020204" pitchFamily="34" charset="0"/>
                <a:ea typeface="Aptos" panose="020B0004020202020204" pitchFamily="34" charset="0"/>
                <a:cs typeface="Mangal" panose="02040503050203030202" pitchFamily="18" charset="0"/>
              </a:rPr>
              <a:t>The disk is assumed to be geometrically thin, implying that its vertical extent is significantly smaller than its radial extent, i.e.,</a:t>
            </a:r>
          </a:p>
          <a:p>
            <a:pPr marL="0" marR="0" algn="ctr">
              <a:lnSpc>
                <a:spcPct val="115000"/>
              </a:lnSpc>
              <a:spcAft>
                <a:spcPts val="800"/>
              </a:spcAft>
              <a:buNone/>
            </a:pPr>
            <a:r>
              <a:rPr lang="en-US" b="1" kern="100" dirty="0">
                <a:effectLst/>
                <a:latin typeface="Aptos" panose="020B0004020202020204" pitchFamily="34" charset="0"/>
                <a:ea typeface="Aptos" panose="020B0004020202020204" pitchFamily="34" charset="0"/>
                <a:cs typeface="Mangal" panose="02040503050203030202" pitchFamily="18" charset="0"/>
              </a:rPr>
              <a:t>H &lt;&lt; R</a:t>
            </a:r>
            <a:endParaRPr lang="en-US" kern="100" dirty="0">
              <a:effectLst/>
              <a:latin typeface="Aptos" panose="020B0004020202020204" pitchFamily="34" charset="0"/>
              <a:ea typeface="Aptos" panose="020B0004020202020204" pitchFamily="34" charset="0"/>
              <a:cs typeface="Mangal" panose="02040503050203030202" pitchFamily="18" charset="0"/>
            </a:endParaRPr>
          </a:p>
          <a:p>
            <a:pPr marL="0" marR="0">
              <a:lnSpc>
                <a:spcPct val="115000"/>
              </a:lnSpc>
              <a:spcAft>
                <a:spcPts val="800"/>
              </a:spcAft>
              <a:buNone/>
            </a:pPr>
            <a:r>
              <a:rPr lang="en-US" kern="100" dirty="0">
                <a:effectLst/>
                <a:latin typeface="Aptos" panose="020B0004020202020204" pitchFamily="34" charset="0"/>
                <a:ea typeface="Aptos" panose="020B0004020202020204" pitchFamily="34" charset="0"/>
                <a:cs typeface="Mangal" panose="02040503050203030202" pitchFamily="18" charset="0"/>
              </a:rPr>
              <a:t>where </a:t>
            </a:r>
            <a:r>
              <a:rPr lang="en-US" i="1" kern="100" dirty="0">
                <a:effectLst/>
                <a:latin typeface="Aptos" panose="020B0004020202020204" pitchFamily="34" charset="0"/>
                <a:ea typeface="Aptos" panose="020B0004020202020204" pitchFamily="34" charset="0"/>
                <a:cs typeface="Mangal" panose="02040503050203030202" pitchFamily="18" charset="0"/>
              </a:rPr>
              <a:t>H</a:t>
            </a:r>
            <a:r>
              <a:rPr lang="en-US" kern="100" dirty="0">
                <a:effectLst/>
                <a:latin typeface="Aptos" panose="020B0004020202020204" pitchFamily="34" charset="0"/>
                <a:ea typeface="Aptos" panose="020B0004020202020204" pitchFamily="34" charset="0"/>
                <a:cs typeface="Mangal" panose="02040503050203030202" pitchFamily="18" charset="0"/>
              </a:rPr>
              <a:t> is the pressure scale height and </a:t>
            </a:r>
            <a:r>
              <a:rPr lang="en-US" i="1" kern="100" dirty="0">
                <a:effectLst/>
                <a:latin typeface="Aptos" panose="020B0004020202020204" pitchFamily="34" charset="0"/>
                <a:ea typeface="Aptos" panose="020B0004020202020204" pitchFamily="34" charset="0"/>
                <a:cs typeface="Mangal" panose="02040503050203030202" pitchFamily="18" charset="0"/>
              </a:rPr>
              <a:t>R</a:t>
            </a:r>
            <a:r>
              <a:rPr lang="en-US" kern="100" dirty="0">
                <a:effectLst/>
                <a:latin typeface="Aptos" panose="020B0004020202020204" pitchFamily="34" charset="0"/>
                <a:ea typeface="Aptos" panose="020B0004020202020204" pitchFamily="34" charset="0"/>
                <a:cs typeface="Mangal" panose="02040503050203030202" pitchFamily="18" charset="0"/>
              </a:rPr>
              <a:t> is the cylindrical radius.</a:t>
            </a:r>
          </a:p>
          <a:p>
            <a:pPr>
              <a:buNone/>
            </a:pPr>
            <a:r>
              <a:rPr lang="en-US" dirty="0">
                <a:effectLst/>
                <a:latin typeface="Aptos" panose="020B0004020202020204" pitchFamily="34" charset="0"/>
                <a:ea typeface="Aptos" panose="020B0004020202020204" pitchFamily="34" charset="0"/>
                <a:cs typeface="Mangal" panose="02040503050203030202" pitchFamily="18" charset="0"/>
              </a:rPr>
              <a:t>This assumption allows the radial and vertical structures of the disk to be treated independently to first order and is well justified for most observed protoplanetary disks</a:t>
            </a:r>
            <a:endParaRPr lang="en-US" dirty="0"/>
          </a:p>
        </p:txBody>
      </p:sp>
      <p:pic>
        <p:nvPicPr>
          <p:cNvPr id="7" name="Picture 6">
            <a:extLst>
              <a:ext uri="{FF2B5EF4-FFF2-40B4-BE49-F238E27FC236}">
                <a16:creationId xmlns:a16="http://schemas.microsoft.com/office/drawing/2014/main" id="{AA8AB334-27A5-C73A-FB2C-832484F81B04}"/>
              </a:ext>
            </a:extLst>
          </p:cNvPr>
          <p:cNvPicPr>
            <a:picLocks noChangeAspect="1"/>
          </p:cNvPicPr>
          <p:nvPr/>
        </p:nvPicPr>
        <p:blipFill>
          <a:blip r:embed="rId2"/>
          <a:srcRect l="1476" t="7479" r="48694" b="5952"/>
          <a:stretch>
            <a:fillRect/>
          </a:stretch>
        </p:blipFill>
        <p:spPr>
          <a:xfrm>
            <a:off x="5948517" y="695260"/>
            <a:ext cx="5594926" cy="5467480"/>
          </a:xfrm>
          <a:prstGeom prst="rect">
            <a:avLst/>
          </a:prstGeom>
        </p:spPr>
      </p:pic>
    </p:spTree>
    <p:extLst>
      <p:ext uri="{BB962C8B-B14F-4D97-AF65-F5344CB8AC3E}">
        <p14:creationId xmlns:p14="http://schemas.microsoft.com/office/powerpoint/2010/main" val="213048331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27DD4-938D-17E6-F42C-71CD0FE15285}"/>
              </a:ext>
            </a:extLst>
          </p:cNvPr>
          <p:cNvSpPr>
            <a:spLocks noGrp="1"/>
          </p:cNvSpPr>
          <p:nvPr>
            <p:ph type="title"/>
          </p:nvPr>
        </p:nvSpPr>
        <p:spPr>
          <a:xfrm>
            <a:off x="706121" y="568961"/>
            <a:ext cx="6212839" cy="670560"/>
          </a:xfrm>
        </p:spPr>
        <p:txBody>
          <a:bodyPr>
            <a:normAutofit/>
          </a:bodyPr>
          <a:lstStyle/>
          <a:p>
            <a:r>
              <a:rPr lang="en-US" b="0" i="0" u="none" strike="noStrike" baseline="0" dirty="0">
                <a:latin typeface="CMBX12"/>
              </a:rPr>
              <a:t>Static Disk Approximation</a:t>
            </a:r>
            <a:endParaRPr lang="en-US" sz="3200" dirty="0"/>
          </a:p>
        </p:txBody>
      </p:sp>
      <p:sp>
        <p:nvSpPr>
          <p:cNvPr id="3" name="Content Placeholder 2">
            <a:extLst>
              <a:ext uri="{FF2B5EF4-FFF2-40B4-BE49-F238E27FC236}">
                <a16:creationId xmlns:a16="http://schemas.microsoft.com/office/drawing/2014/main" id="{F3009CE6-6B97-ECEE-78AB-7D282F54AD0D}"/>
              </a:ext>
            </a:extLst>
          </p:cNvPr>
          <p:cNvSpPr>
            <a:spLocks noGrp="1"/>
          </p:cNvSpPr>
          <p:nvPr>
            <p:ph idx="1"/>
          </p:nvPr>
        </p:nvSpPr>
        <p:spPr>
          <a:xfrm>
            <a:off x="706121" y="1239521"/>
            <a:ext cx="10591799" cy="1215812"/>
          </a:xfrm>
        </p:spPr>
        <p:txBody>
          <a:bodyPr>
            <a:noAutofit/>
          </a:bodyPr>
          <a:lstStyle/>
          <a:p>
            <a:pPr marL="0" indent="0">
              <a:buNone/>
            </a:pPr>
            <a:r>
              <a:rPr lang="en-US" sz="2000" dirty="0">
                <a:latin typeface="CMR12"/>
              </a:rPr>
              <a:t>The present model represents a static snapshot of the disk. Time-dependent processes such as viscous evolution, accretion, photoevaporation and disk dispersal are neglected. This approximation allows the focus to remain on the equilibrium structure of the disk.</a:t>
            </a:r>
            <a:endParaRPr lang="en-US" sz="2000" dirty="0"/>
          </a:p>
        </p:txBody>
      </p:sp>
      <p:sp>
        <p:nvSpPr>
          <p:cNvPr id="7" name="TextBox 6">
            <a:extLst>
              <a:ext uri="{FF2B5EF4-FFF2-40B4-BE49-F238E27FC236}">
                <a16:creationId xmlns:a16="http://schemas.microsoft.com/office/drawing/2014/main" id="{6CB76F51-5D49-0B6F-3354-D3E380C2DED8}"/>
              </a:ext>
            </a:extLst>
          </p:cNvPr>
          <p:cNvSpPr txBox="1"/>
          <p:nvPr/>
        </p:nvSpPr>
        <p:spPr>
          <a:xfrm>
            <a:off x="706121" y="2633982"/>
            <a:ext cx="5979159" cy="3216265"/>
          </a:xfrm>
          <a:prstGeom prst="rect">
            <a:avLst/>
          </a:prstGeom>
          <a:noFill/>
        </p:spPr>
        <p:txBody>
          <a:bodyPr wrap="square">
            <a:spAutoFit/>
          </a:bodyPr>
          <a:lstStyle/>
          <a:p>
            <a:pPr algn="l"/>
            <a:r>
              <a:rPr lang="en-US" sz="3600" cap="all" dirty="0">
                <a:ln w="3175" cmpd="sng">
                  <a:noFill/>
                </a:ln>
                <a:latin typeface="CMBX12"/>
                <a:ea typeface="+mj-ea"/>
                <a:cs typeface="+mj-cs"/>
              </a:rPr>
              <a:t>Vertical Hydrostatic Equilibrium </a:t>
            </a:r>
          </a:p>
          <a:p>
            <a:pPr algn="l"/>
            <a:endParaRPr lang="en-US" sz="1100" cap="all" dirty="0">
              <a:ln w="3175" cmpd="sng">
                <a:noFill/>
              </a:ln>
              <a:latin typeface="CMBX12"/>
              <a:ea typeface="+mj-ea"/>
              <a:cs typeface="+mj-cs"/>
            </a:endParaRPr>
          </a:p>
          <a:p>
            <a:pPr algn="l"/>
            <a:r>
              <a:rPr lang="en-US" sz="2000" dirty="0">
                <a:latin typeface="CMR12"/>
              </a:rPr>
              <a:t>The vertical structure of the disk is obtained by assuming hydrostatic equilibrium. At every radius, the upward pressure gradient balances the vertical component of stellar gravity. This assumption naturally determines the pressure scale height and leads to the Gaussian density profile adopted in the present work.</a:t>
            </a:r>
          </a:p>
        </p:txBody>
      </p:sp>
      <p:pic>
        <p:nvPicPr>
          <p:cNvPr id="12" name="Picture 11">
            <a:extLst>
              <a:ext uri="{FF2B5EF4-FFF2-40B4-BE49-F238E27FC236}">
                <a16:creationId xmlns:a16="http://schemas.microsoft.com/office/drawing/2014/main" id="{24DB524E-F491-CB0A-8F2B-BDF82BADFD3B}"/>
              </a:ext>
            </a:extLst>
          </p:cNvPr>
          <p:cNvPicPr>
            <a:picLocks noChangeAspect="1"/>
          </p:cNvPicPr>
          <p:nvPr/>
        </p:nvPicPr>
        <p:blipFill>
          <a:blip r:embed="rId2"/>
          <a:srcRect l="10166" t="444" r="9501" b="22185"/>
          <a:stretch>
            <a:fillRect/>
          </a:stretch>
        </p:blipFill>
        <p:spPr>
          <a:xfrm>
            <a:off x="6685280" y="2633982"/>
            <a:ext cx="4897120" cy="3537372"/>
          </a:xfrm>
          <a:prstGeom prst="rect">
            <a:avLst/>
          </a:prstGeom>
        </p:spPr>
      </p:pic>
    </p:spTree>
    <p:extLst>
      <p:ext uri="{BB962C8B-B14F-4D97-AF65-F5344CB8AC3E}">
        <p14:creationId xmlns:p14="http://schemas.microsoft.com/office/powerpoint/2010/main" val="30621936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CE55A02-14C4-497C-1F8C-025F6F7B1159}"/>
                  </a:ext>
                </a:extLst>
              </p:cNvPr>
              <p:cNvSpPr txBox="1"/>
              <p:nvPr/>
            </p:nvSpPr>
            <p:spPr>
              <a:xfrm>
                <a:off x="1041400" y="1190362"/>
                <a:ext cx="10530840" cy="4115101"/>
              </a:xfrm>
              <a:prstGeom prst="rect">
                <a:avLst/>
              </a:prstGeom>
              <a:noFill/>
            </p:spPr>
            <p:txBody>
              <a:bodyPr wrap="square">
                <a:spAutoFit/>
              </a:bodyPr>
              <a:lstStyle/>
              <a:p>
                <a:pPr algn="l"/>
                <a:r>
                  <a:rPr lang="en-US" sz="3200" kern="100" dirty="0">
                    <a:latin typeface="Algerian" panose="04020705040A02060702" pitchFamily="82" charset="0"/>
                    <a:cs typeface="Mangal" panose="02040503050203030202" pitchFamily="18" charset="0"/>
                  </a:rPr>
                  <a:t>Keplerian Rotation</a:t>
                </a:r>
              </a:p>
              <a:p>
                <a:pPr algn="l"/>
                <a:endParaRPr lang="en-US" sz="1000" kern="100" dirty="0">
                  <a:latin typeface="Algerian" panose="04020705040A02060702" pitchFamily="82" charset="0"/>
                  <a:cs typeface="Mangal" panose="02040503050203030202" pitchFamily="18" charset="0"/>
                </a:endParaRPr>
              </a:p>
              <a:p>
                <a:pPr algn="l"/>
                <a:r>
                  <a:rPr lang="en-US" sz="2400" b="0" i="0" u="none" strike="noStrike" baseline="0" dirty="0">
                    <a:latin typeface="CMR12"/>
                  </a:rPr>
                  <a:t>The gravitational potential is assumed to be dominated by the central star, while the self-gravity of the disk is neglected. Under this assumption, the gas follows Keplerian rotation throughout the disk,</a:t>
                </a:r>
              </a:p>
              <a:p>
                <a:pPr algn="l"/>
                <a:endParaRPr lang="en-US" sz="1000" b="0" i="0" u="none" strike="noStrike" baseline="0" dirty="0">
                  <a:latin typeface="CMR12"/>
                </a:endParaRPr>
              </a:p>
              <a:p>
                <a:pPr/>
                <a14:m>
                  <m:oMathPara xmlns:m="http://schemas.openxmlformats.org/officeDocument/2006/math">
                    <m:oMath>
                      <m:r>
                        <m:rPr>
                          <m:sty m:val="p"/>
                        </m:rPr>
                        <a:rPr lang="el-GR" sz="2400" i="1" smtClean="0">
                          <a:latin typeface="Cambria Math" panose="02040503050406030204" pitchFamily="18" charset="0"/>
                          <a:ea typeface="Cambria Math" panose="02040503050406030204" pitchFamily="18" charset="0"/>
                        </a:rPr>
                        <m:t>Ω</m:t>
                      </m:r>
                      <m:r>
                        <a:rPr lang="el-GR" sz="2400" i="1" smtClean="0">
                          <a:latin typeface="Cambria Math" panose="02040503050406030204" pitchFamily="18" charset="0"/>
                          <a:ea typeface="Cambria Math" panose="02040503050406030204" pitchFamily="18" charset="0"/>
                        </a:rPr>
                        <m:t>=</m:t>
                      </m:r>
                      <m:rad>
                        <m:radPr>
                          <m:degHide m:val="on"/>
                          <m:ctrlPr>
                            <a:rPr lang="en-US" sz="2400" b="0" i="1" smtClean="0">
                              <a:latin typeface="Cambria Math" panose="02040503050406030204" pitchFamily="18" charset="0"/>
                              <a:ea typeface="Cambria Math" panose="02040503050406030204" pitchFamily="18" charset="0"/>
                            </a:rPr>
                          </m:ctrlPr>
                        </m:radPr>
                        <m:deg/>
                        <m:e>
                          <m:f>
                            <m:fPr>
                              <m:ctrlPr>
                                <a:rPr lang="en-US" sz="2400" i="1">
                                  <a:latin typeface="Cambria Math" panose="02040503050406030204" pitchFamily="18" charset="0"/>
                                  <a:ea typeface="Cambria Math" panose="02040503050406030204" pitchFamily="18" charset="0"/>
                                </a:rPr>
                              </m:ctrlPr>
                            </m:fPr>
                            <m:num>
                              <m:r>
                                <m:rPr>
                                  <m:sty m:val="p"/>
                                </m:rPr>
                                <a:rPr lang="en-US" sz="2400" i="1">
                                  <a:latin typeface="Cambria Math" panose="02040503050406030204" pitchFamily="18" charset="0"/>
                                  <a:ea typeface="Cambria Math" panose="02040503050406030204" pitchFamily="18" charset="0"/>
                                </a:rPr>
                                <m:t>G</m:t>
                              </m:r>
                              <m:sSup>
                                <m:sSupPr>
                                  <m:ctrlPr>
                                    <a:rPr lang="en-US" sz="2400" b="0" i="1" smtClean="0">
                                      <a:latin typeface="Cambria Math" panose="02040503050406030204" pitchFamily="18" charset="0"/>
                                      <a:ea typeface="Cambria Math" panose="02040503050406030204" pitchFamily="18" charset="0"/>
                                    </a:rPr>
                                  </m:ctrlPr>
                                </m:sSupPr>
                                <m:e>
                                  <m:r>
                                    <m:rPr>
                                      <m:sty m:val="p"/>
                                    </m:rPr>
                                    <a:rPr lang="en-US" sz="2400" b="0" i="1" smtClean="0">
                                      <a:latin typeface="Cambria Math" panose="02040503050406030204" pitchFamily="18" charset="0"/>
                                      <a:ea typeface="Cambria Math" panose="02040503050406030204" pitchFamily="18" charset="0"/>
                                    </a:rPr>
                                    <m:t>M</m:t>
                                  </m:r>
                                </m:e>
                                <m:sup>
                                  <m:r>
                                    <a:rPr lang="en-US" sz="2400" b="0" i="1" smtClean="0">
                                      <a:latin typeface="Cambria Math" panose="02040503050406030204" pitchFamily="18" charset="0"/>
                                      <a:ea typeface="Cambria Math" panose="02040503050406030204" pitchFamily="18" charset="0"/>
                                    </a:rPr>
                                    <m:t>∗</m:t>
                                  </m:r>
                                </m:sup>
                              </m:sSup>
                            </m:num>
                            <m:den>
                              <m:sSup>
                                <m:sSupPr>
                                  <m:ctrlPr>
                                    <a:rPr lang="en-US" sz="2400" b="0" i="1" smtClean="0">
                                      <a:latin typeface="Cambria Math" panose="02040503050406030204" pitchFamily="18" charset="0"/>
                                      <a:ea typeface="Cambria Math" panose="02040503050406030204" pitchFamily="18" charset="0"/>
                                    </a:rPr>
                                  </m:ctrlPr>
                                </m:sSupPr>
                                <m:e>
                                  <m:r>
                                    <m:rPr>
                                      <m:sty m:val="p"/>
                                    </m:rPr>
                                    <a:rPr lang="en-US" sz="2400" b="0" i="1" smtClean="0">
                                      <a:latin typeface="Cambria Math" panose="02040503050406030204" pitchFamily="18" charset="0"/>
                                      <a:ea typeface="Cambria Math" panose="02040503050406030204" pitchFamily="18" charset="0"/>
                                    </a:rPr>
                                    <m:t>R</m:t>
                                  </m:r>
                                </m:e>
                                <m:sup>
                                  <m:r>
                                    <a:rPr lang="en-US" sz="2400" b="0" i="1" smtClean="0">
                                      <a:latin typeface="Cambria Math" panose="02040503050406030204" pitchFamily="18" charset="0"/>
                                      <a:ea typeface="Cambria Math" panose="02040503050406030204" pitchFamily="18" charset="0"/>
                                    </a:rPr>
                                    <m:t>3</m:t>
                                  </m:r>
                                </m:sup>
                              </m:sSup>
                            </m:den>
                          </m:f>
                        </m:e>
                      </m:rad>
                    </m:oMath>
                  </m:oMathPara>
                </a14:m>
                <a:endParaRPr lang="en-US" sz="2400" dirty="0">
                  <a:latin typeface="CMR12"/>
                </a:endParaRPr>
              </a:p>
              <a:p>
                <a:endParaRPr lang="en-US" sz="1000" dirty="0">
                  <a:latin typeface="CMR12"/>
                </a:endParaRPr>
              </a:p>
              <a:p>
                <a:pPr algn="l"/>
                <a:r>
                  <a:rPr lang="en-US" sz="2400" b="0" i="0" u="none" strike="noStrike" baseline="0" dirty="0">
                    <a:latin typeface="CMR12"/>
                  </a:rPr>
                  <a:t>This is a valid approximation for most protoplanetary disks whose masses are significantly smaller than the stellar mass.</a:t>
                </a:r>
                <a:endParaRPr lang="en-US" sz="2400" dirty="0"/>
              </a:p>
            </p:txBody>
          </p:sp>
        </mc:Choice>
        <mc:Fallback xmlns="">
          <p:sp>
            <p:nvSpPr>
              <p:cNvPr id="5" name="TextBox 4">
                <a:extLst>
                  <a:ext uri="{FF2B5EF4-FFF2-40B4-BE49-F238E27FC236}">
                    <a16:creationId xmlns:a16="http://schemas.microsoft.com/office/drawing/2014/main" id="{DCE55A02-14C4-497C-1F8C-025F6F7B1159}"/>
                  </a:ext>
                </a:extLst>
              </p:cNvPr>
              <p:cNvSpPr txBox="1">
                <a:spLocks noRot="1" noChangeAspect="1" noMove="1" noResize="1" noEditPoints="1" noAdjustHandles="1" noChangeArrowheads="1" noChangeShapeType="1" noTextEdit="1"/>
              </p:cNvSpPr>
              <p:nvPr/>
            </p:nvSpPr>
            <p:spPr>
              <a:xfrm>
                <a:off x="1041400" y="1190362"/>
                <a:ext cx="10530840" cy="4115101"/>
              </a:xfrm>
              <a:prstGeom prst="rect">
                <a:avLst/>
              </a:prstGeom>
              <a:blipFill>
                <a:blip r:embed="rId2"/>
                <a:stretch>
                  <a:fillRect l="-1506" t="-1926"/>
                </a:stretch>
              </a:blipFill>
            </p:spPr>
            <p:txBody>
              <a:bodyPr/>
              <a:lstStyle/>
              <a:p>
                <a:r>
                  <a:rPr lang="en-US">
                    <a:noFill/>
                  </a:rPr>
                  <a:t> </a:t>
                </a:r>
              </a:p>
            </p:txBody>
          </p:sp>
        </mc:Fallback>
      </mc:AlternateContent>
    </p:spTree>
    <p:extLst>
      <p:ext uri="{BB962C8B-B14F-4D97-AF65-F5344CB8AC3E}">
        <p14:creationId xmlns:p14="http://schemas.microsoft.com/office/powerpoint/2010/main" val="45067693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136153-9E89-04A2-1C43-6991590A3BD2}"/>
              </a:ext>
            </a:extLst>
          </p:cNvPr>
          <p:cNvSpPr txBox="1"/>
          <p:nvPr/>
        </p:nvSpPr>
        <p:spPr>
          <a:xfrm>
            <a:off x="1087120" y="1151369"/>
            <a:ext cx="8920480" cy="4355038"/>
          </a:xfrm>
          <a:prstGeom prst="rect">
            <a:avLst/>
          </a:prstGeom>
          <a:noFill/>
        </p:spPr>
        <p:txBody>
          <a:bodyPr wrap="square">
            <a:spAutoFit/>
          </a:bodyPr>
          <a:lstStyle/>
          <a:p>
            <a:pPr algn="l"/>
            <a:r>
              <a:rPr lang="en-US" sz="2800" kern="100" dirty="0">
                <a:latin typeface="Algerian" panose="04020705040A02060702" pitchFamily="82" charset="0"/>
                <a:cs typeface="Mangal" panose="02040503050203030202" pitchFamily="18" charset="0"/>
              </a:rPr>
              <a:t>Passive Irradiation</a:t>
            </a:r>
          </a:p>
          <a:p>
            <a:pPr algn="l"/>
            <a:endParaRPr lang="en-US" sz="1050" kern="100" dirty="0">
              <a:latin typeface="Algerian" panose="04020705040A02060702" pitchFamily="82" charset="0"/>
              <a:cs typeface="Mangal" panose="02040503050203030202" pitchFamily="18" charset="0"/>
            </a:endParaRPr>
          </a:p>
          <a:p>
            <a:pPr algn="l"/>
            <a:r>
              <a:rPr lang="en-US" sz="2000" b="0" i="0" u="none" strike="noStrike" baseline="0" dirty="0">
                <a:latin typeface="CMR12"/>
              </a:rPr>
              <a:t>The disk is assumed to be heated primarily by stellar irradiation. Heating due to viscous accretion is neglected, making the disk a passive flared disk. Consequently, the temperature distribution is prescribed using a radial power-law profile and vertically isothermal rather than being obtained from detailed radiative transfer calculations.</a:t>
            </a:r>
          </a:p>
          <a:p>
            <a:pPr algn="l"/>
            <a:endParaRPr lang="en-US" sz="2000" b="0" i="0" u="none" strike="noStrike" baseline="0" dirty="0">
              <a:latin typeface="CMR12"/>
            </a:endParaRPr>
          </a:p>
          <a:p>
            <a:pPr algn="l"/>
            <a:r>
              <a:rPr lang="en-US" sz="2800" kern="100" dirty="0">
                <a:latin typeface="Algerian" panose="04020705040A02060702" pitchFamily="82" charset="0"/>
                <a:cs typeface="Mangal" panose="02040503050203030202" pitchFamily="18" charset="0"/>
              </a:rPr>
              <a:t>Well-Mixed Gas and Dust</a:t>
            </a:r>
          </a:p>
          <a:p>
            <a:pPr algn="l"/>
            <a:endParaRPr lang="en-US" sz="1050" kern="100" dirty="0">
              <a:latin typeface="Algerian" panose="04020705040A02060702" pitchFamily="82" charset="0"/>
              <a:cs typeface="Mangal" panose="02040503050203030202" pitchFamily="18" charset="0"/>
            </a:endParaRPr>
          </a:p>
          <a:p>
            <a:pPr algn="l"/>
            <a:r>
              <a:rPr lang="en-US" sz="2000" b="0" i="0" u="none" strike="noStrike" baseline="0" dirty="0">
                <a:latin typeface="CMR12"/>
              </a:rPr>
              <a:t>Gas and dust are assumed to remain perfectly coupled throughout the disk with a constant dust-to-gas mass ratio and mean molecular weight of 2.3 times mass of Hydrogen. Processes such as grain growth, radial drift, fragmentation and dust settling are beyond the scope of the current implementation.</a:t>
            </a:r>
            <a:endParaRPr lang="en-US" sz="2000" dirty="0"/>
          </a:p>
        </p:txBody>
      </p:sp>
    </p:spTree>
    <p:extLst>
      <p:ext uri="{BB962C8B-B14F-4D97-AF65-F5344CB8AC3E}">
        <p14:creationId xmlns:p14="http://schemas.microsoft.com/office/powerpoint/2010/main" val="71725136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3F3C7F5-A29A-3A7E-1CB8-4FB922D049C8}"/>
              </a:ext>
            </a:extLst>
          </p:cNvPr>
          <p:cNvPicPr>
            <a:picLocks noChangeAspect="1"/>
          </p:cNvPicPr>
          <p:nvPr/>
        </p:nvPicPr>
        <p:blipFill>
          <a:blip r:embed="rId2"/>
          <a:srcRect l="1290" t="938" r="4212" b="1441"/>
          <a:stretch>
            <a:fillRect/>
          </a:stretch>
        </p:blipFill>
        <p:spPr>
          <a:xfrm>
            <a:off x="865239" y="808703"/>
            <a:ext cx="10795818" cy="5397910"/>
          </a:xfrm>
          <a:prstGeom prst="rect">
            <a:avLst/>
          </a:prstGeom>
        </p:spPr>
      </p:pic>
    </p:spTree>
    <p:extLst>
      <p:ext uri="{BB962C8B-B14F-4D97-AF65-F5344CB8AC3E}">
        <p14:creationId xmlns:p14="http://schemas.microsoft.com/office/powerpoint/2010/main" val="150286436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3F7B-CBB7-737C-47DA-B874A78109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484A73-2CB9-003A-2E63-D770C94C3226}"/>
              </a:ext>
            </a:extLst>
          </p:cNvPr>
          <p:cNvSpPr>
            <a:spLocks noGrp="1"/>
          </p:cNvSpPr>
          <p:nvPr>
            <p:ph type="title"/>
          </p:nvPr>
        </p:nvSpPr>
        <p:spPr>
          <a:xfrm>
            <a:off x="3474720" y="2700866"/>
            <a:ext cx="5242560" cy="1456267"/>
          </a:xfrm>
        </p:spPr>
        <p:txBody>
          <a:bodyPr>
            <a:normAutofit/>
          </a:bodyPr>
          <a:lstStyle/>
          <a:p>
            <a:r>
              <a:rPr lang="en-US" sz="4000" dirty="0"/>
              <a:t>Mathematical model</a:t>
            </a:r>
          </a:p>
        </p:txBody>
      </p:sp>
    </p:spTree>
    <p:extLst>
      <p:ext uri="{BB962C8B-B14F-4D97-AF65-F5344CB8AC3E}">
        <p14:creationId xmlns:p14="http://schemas.microsoft.com/office/powerpoint/2010/main" val="308644278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F46E1A7-3270-0B8A-1A10-08C0210209F3}"/>
              </a:ext>
            </a:extLst>
          </p:cNvPr>
          <p:cNvPicPr>
            <a:picLocks noChangeAspect="1"/>
          </p:cNvPicPr>
          <p:nvPr/>
        </p:nvPicPr>
        <p:blipFill>
          <a:blip r:embed="rId2"/>
          <a:srcRect l="997" t="5373" b="7277"/>
          <a:stretch>
            <a:fillRect/>
          </a:stretch>
        </p:blipFill>
        <p:spPr>
          <a:xfrm>
            <a:off x="589936" y="1661886"/>
            <a:ext cx="7885470" cy="4334726"/>
          </a:xfrm>
          <a:prstGeom prst="rect">
            <a:avLst/>
          </a:prstGeom>
        </p:spPr>
      </p:pic>
      <p:sp>
        <p:nvSpPr>
          <p:cNvPr id="3" name="TextBox 2">
            <a:extLst>
              <a:ext uri="{FF2B5EF4-FFF2-40B4-BE49-F238E27FC236}">
                <a16:creationId xmlns:a16="http://schemas.microsoft.com/office/drawing/2014/main" id="{3FD8FF8B-EA75-D115-7D12-63631478F073}"/>
              </a:ext>
            </a:extLst>
          </p:cNvPr>
          <p:cNvSpPr txBox="1"/>
          <p:nvPr/>
        </p:nvSpPr>
        <p:spPr>
          <a:xfrm>
            <a:off x="589935" y="861388"/>
            <a:ext cx="7154486" cy="646331"/>
          </a:xfrm>
          <a:prstGeom prst="rect">
            <a:avLst/>
          </a:prstGeom>
          <a:noFill/>
        </p:spPr>
        <p:txBody>
          <a:bodyPr wrap="square">
            <a:spAutoFit/>
          </a:bodyPr>
          <a:lstStyle/>
          <a:p>
            <a:r>
              <a:rPr lang="en-US" sz="3600" kern="100" dirty="0">
                <a:latin typeface="Algerian" panose="04020705040A02060702" pitchFamily="82" charset="0"/>
                <a:cs typeface="Mangal" panose="02040503050203030202" pitchFamily="18" charset="0"/>
              </a:rPr>
              <a:t>Surface Density Distribution</a:t>
            </a:r>
          </a:p>
        </p:txBody>
      </p:sp>
      <p:sp>
        <p:nvSpPr>
          <p:cNvPr id="5" name="TextBox 4">
            <a:extLst>
              <a:ext uri="{FF2B5EF4-FFF2-40B4-BE49-F238E27FC236}">
                <a16:creationId xmlns:a16="http://schemas.microsoft.com/office/drawing/2014/main" id="{58D26A1D-C855-F2ED-E8CA-B0AA1DEBBCBF}"/>
              </a:ext>
            </a:extLst>
          </p:cNvPr>
          <p:cNvSpPr txBox="1"/>
          <p:nvPr/>
        </p:nvSpPr>
        <p:spPr>
          <a:xfrm>
            <a:off x="8613058" y="1662118"/>
            <a:ext cx="2989007" cy="4093428"/>
          </a:xfrm>
          <a:prstGeom prst="rect">
            <a:avLst/>
          </a:prstGeom>
          <a:noFill/>
        </p:spPr>
        <p:txBody>
          <a:bodyPr wrap="square">
            <a:spAutoFit/>
          </a:bodyPr>
          <a:lstStyle/>
          <a:p>
            <a:pPr algn="l"/>
            <a:r>
              <a:rPr lang="en-US" sz="2000" b="0" i="0" u="none" strike="noStrike" baseline="0" dirty="0">
                <a:latin typeface="CMR12"/>
              </a:rPr>
              <a:t>The surface density, denoted by Σ(</a:t>
            </a:r>
            <a:r>
              <a:rPr lang="en-US" sz="2000" b="0" i="0" u="none" strike="noStrike" baseline="0" dirty="0">
                <a:latin typeface="CMMI12"/>
              </a:rPr>
              <a:t>R</a:t>
            </a:r>
            <a:r>
              <a:rPr lang="en-US" sz="2000" b="0" i="0" u="none" strike="noStrike" baseline="0" dirty="0">
                <a:latin typeface="CMR12"/>
              </a:rPr>
              <a:t>), represents the vertically integrated mass per unit area of the disk. It determines how material is distributed with increasing distance from the central star and directly influences the total disk mass, pressure structure, and vertical density distribution.</a:t>
            </a:r>
            <a:endParaRPr lang="en-US" sz="2000" dirty="0"/>
          </a:p>
        </p:txBody>
      </p:sp>
    </p:spTree>
    <p:extLst>
      <p:ext uri="{BB962C8B-B14F-4D97-AF65-F5344CB8AC3E}">
        <p14:creationId xmlns:p14="http://schemas.microsoft.com/office/powerpoint/2010/main" val="390184141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C46A6E4-2783-94BD-99AD-B60B5FDE20B2}"/>
              </a:ext>
            </a:extLst>
          </p:cNvPr>
          <p:cNvSpPr txBox="1"/>
          <p:nvPr/>
        </p:nvSpPr>
        <p:spPr>
          <a:xfrm>
            <a:off x="1150373" y="3506141"/>
            <a:ext cx="8495072" cy="2431435"/>
          </a:xfrm>
          <a:prstGeom prst="rect">
            <a:avLst/>
          </a:prstGeom>
          <a:noFill/>
        </p:spPr>
        <p:txBody>
          <a:bodyPr wrap="square">
            <a:spAutoFit/>
          </a:bodyPr>
          <a:lstStyle/>
          <a:p>
            <a:pPr algn="l"/>
            <a:r>
              <a:rPr lang="en-US" sz="2000" dirty="0">
                <a:latin typeface="CMR12"/>
              </a:rPr>
              <a:t>W</a:t>
            </a:r>
            <a:r>
              <a:rPr lang="en-US" sz="2000" b="0" i="0" u="none" strike="noStrike" baseline="0" dirty="0">
                <a:latin typeface="CMR12"/>
              </a:rPr>
              <a:t>here :- </a:t>
            </a:r>
          </a:p>
          <a:p>
            <a:pPr algn="l"/>
            <a:endParaRPr lang="en-US" sz="800" b="0" i="0" u="none" strike="noStrike" baseline="0" dirty="0">
              <a:latin typeface="CMR12"/>
            </a:endParaRPr>
          </a:p>
          <a:p>
            <a:pPr algn="l"/>
            <a:r>
              <a:rPr lang="en-US" sz="2000" b="0" i="0" u="none" strike="noStrike" baseline="0" dirty="0">
                <a:latin typeface="SFRM1200"/>
              </a:rPr>
              <a:t>• </a:t>
            </a:r>
            <a:r>
              <a:rPr lang="en-US" sz="2000" b="0" i="0" u="none" strike="noStrike" baseline="0" dirty="0">
                <a:latin typeface="CMR12"/>
              </a:rPr>
              <a:t>Σ</a:t>
            </a:r>
            <a:r>
              <a:rPr lang="en-US" sz="2000" b="0" i="0" u="none" strike="noStrike" baseline="0" dirty="0">
                <a:latin typeface="CMMI8"/>
              </a:rPr>
              <a:t>c </a:t>
            </a:r>
            <a:r>
              <a:rPr lang="en-US" sz="2000" b="0" i="0" u="none" strike="noStrike" baseline="0" dirty="0">
                <a:latin typeface="CMR12"/>
              </a:rPr>
              <a:t>is the normalization constant,</a:t>
            </a:r>
          </a:p>
          <a:p>
            <a:pPr algn="l"/>
            <a:endParaRPr lang="en-US" sz="800" b="0" i="0" u="none" strike="noStrike" baseline="0" dirty="0">
              <a:latin typeface="CMR12"/>
            </a:endParaRPr>
          </a:p>
          <a:p>
            <a:pPr algn="l"/>
            <a:r>
              <a:rPr lang="en-US" sz="2000" b="0" i="0" u="none" strike="noStrike" baseline="0" dirty="0">
                <a:latin typeface="SFRM1200"/>
              </a:rPr>
              <a:t>• </a:t>
            </a:r>
            <a:r>
              <a:rPr lang="en-US" sz="2000" b="0" i="0" u="none" strike="noStrike" baseline="0" dirty="0">
                <a:latin typeface="CMMI12"/>
              </a:rPr>
              <a:t>R</a:t>
            </a:r>
            <a:r>
              <a:rPr lang="en-US" sz="2000" b="0" i="0" u="none" strike="noStrike" baseline="0" dirty="0">
                <a:latin typeface="CMMI8"/>
              </a:rPr>
              <a:t>c </a:t>
            </a:r>
            <a:r>
              <a:rPr lang="en-US" sz="2000" b="0" i="0" u="none" strike="noStrike" baseline="0" dirty="0">
                <a:latin typeface="CMR12"/>
              </a:rPr>
              <a:t>is the characteristic radius,</a:t>
            </a:r>
          </a:p>
          <a:p>
            <a:pPr algn="l"/>
            <a:endParaRPr lang="en-US" sz="800" b="0" i="0" u="none" strike="noStrike" baseline="0" dirty="0">
              <a:latin typeface="CMR12"/>
            </a:endParaRPr>
          </a:p>
          <a:p>
            <a:pPr algn="l"/>
            <a:r>
              <a:rPr lang="en-US" sz="2000" b="0" i="0" u="none" strike="noStrike" baseline="0" dirty="0">
                <a:latin typeface="SFRM1200"/>
              </a:rPr>
              <a:t>• </a:t>
            </a:r>
            <a:r>
              <a:rPr lang="en-US" sz="2000" b="0" i="0" u="none" strike="noStrike" baseline="0" dirty="0">
                <a:latin typeface="CMMI12"/>
              </a:rPr>
              <a:t>γ </a:t>
            </a:r>
            <a:r>
              <a:rPr lang="en-US" sz="2000" b="0" i="0" u="none" strike="noStrike" baseline="0" dirty="0">
                <a:latin typeface="CMR12"/>
              </a:rPr>
              <a:t>controls the radial density slope.</a:t>
            </a:r>
          </a:p>
          <a:p>
            <a:pPr algn="l"/>
            <a:endParaRPr lang="en-US" sz="800" b="0" i="0" u="none" strike="noStrike" baseline="0" dirty="0">
              <a:latin typeface="CMR12"/>
            </a:endParaRPr>
          </a:p>
          <a:p>
            <a:pPr algn="l"/>
            <a:r>
              <a:rPr lang="en-US" sz="2000" b="0" i="0" u="none" strike="noStrike" baseline="0" dirty="0">
                <a:latin typeface="CMR12"/>
              </a:rPr>
              <a:t>This equation forms the foundation for determining the total mass distribution throughout the disk.</a:t>
            </a:r>
            <a:endParaRPr lang="en-US" sz="200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67900DA-220F-EB01-D79F-B216F08CE620}"/>
                  </a:ext>
                </a:extLst>
              </p:cNvPr>
              <p:cNvSpPr txBox="1"/>
              <p:nvPr/>
            </p:nvSpPr>
            <p:spPr>
              <a:xfrm>
                <a:off x="3549445" y="2835564"/>
                <a:ext cx="6096000" cy="516295"/>
              </a:xfrm>
              <a:prstGeom prst="rect">
                <a:avLst/>
              </a:prstGeom>
              <a:noFill/>
            </p:spPr>
            <p:txBody>
              <a:bodyPr wrap="square">
                <a:spAutoFit/>
              </a:bodyPr>
              <a:lstStyle/>
              <a:p>
                <a:pPr/>
                <a14:m>
                  <m:oMathPara xmlns:m="http://schemas.openxmlformats.org/officeDocument/2006/math">
                    <m:oMath>
                      <m:r>
                        <a:rPr lang="en-US" sz="2400" i="1" smtClean="0">
                          <a:latin typeface="Cambria Math" panose="02040503050406030204" pitchFamily="18" charset="0"/>
                        </a:rPr>
                        <m:t>𝛴</m:t>
                      </m:r>
                      <m:d>
                        <m:dPr>
                          <m:ctrlPr>
                            <a:rPr lang="en-US" sz="2400" i="1">
                              <a:latin typeface="Cambria Math" panose="02040503050406030204" pitchFamily="18" charset="0"/>
                            </a:rPr>
                          </m:ctrlPr>
                        </m:dPr>
                        <m:e>
                          <m:r>
                            <a:rPr lang="en-US" sz="2400" i="1">
                              <a:latin typeface="Cambria Math" panose="02040503050406030204" pitchFamily="18" charset="0"/>
                            </a:rPr>
                            <m:t>𝑅</m:t>
                          </m:r>
                        </m:e>
                      </m:d>
                      <m:r>
                        <a:rPr lang="en-US" sz="2400" i="0">
                          <a:latin typeface="Cambria Math" panose="02040503050406030204" pitchFamily="18" charset="0"/>
                        </a:rPr>
                        <m:t>=</m:t>
                      </m:r>
                      <m:r>
                        <a:rPr lang="en-US" sz="2400" i="1">
                          <a:latin typeface="Cambria Math" panose="02040503050406030204" pitchFamily="18" charset="0"/>
                        </a:rPr>
                        <m:t>𝛴</m:t>
                      </m:r>
                      <m:r>
                        <a:rPr lang="en-US" sz="2400" i="1">
                          <a:latin typeface="Cambria Math" panose="02040503050406030204" pitchFamily="18" charset="0"/>
                        </a:rPr>
                        <m:t>𝑐</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f>
                                <m:fPr>
                                  <m:type m:val="lin"/>
                                  <m:ctrlPr>
                                    <a:rPr lang="en-US" sz="2400" i="1">
                                      <a:latin typeface="Cambria Math" panose="02040503050406030204" pitchFamily="18" charset="0"/>
                                    </a:rPr>
                                  </m:ctrlPr>
                                </m:fPr>
                                <m:num>
                                  <m:r>
                                    <a:rPr lang="en-US" sz="2400" i="1">
                                      <a:latin typeface="Cambria Math" panose="02040503050406030204" pitchFamily="18" charset="0"/>
                                    </a:rPr>
                                    <m:t>𝑅</m:t>
                                  </m:r>
                                </m:num>
                                <m:den>
                                  <m:r>
                                    <a:rPr lang="en-US" sz="2400" i="1">
                                      <a:latin typeface="Cambria Math" panose="02040503050406030204" pitchFamily="18" charset="0"/>
                                    </a:rPr>
                                    <m:t>𝑅</m:t>
                                  </m:r>
                                </m:den>
                              </m:f>
                              <m:r>
                                <a:rPr lang="en-US" sz="2400" i="1">
                                  <a:latin typeface="Cambria Math" panose="02040503050406030204" pitchFamily="18" charset="0"/>
                                </a:rPr>
                                <m:t>𝑐</m:t>
                              </m:r>
                            </m:e>
                          </m:d>
                        </m:e>
                        <m:sup>
                          <m:d>
                            <m:dPr>
                              <m:ctrlPr>
                                <a:rPr lang="en-US" sz="2400" i="0">
                                  <a:latin typeface="Cambria Math" panose="02040503050406030204" pitchFamily="18" charset="0"/>
                                </a:rPr>
                              </m:ctrlPr>
                            </m:dPr>
                            <m:e>
                              <m:r>
                                <a:rPr lang="en-US" sz="2400" i="0">
                                  <a:latin typeface="Cambria Math" panose="02040503050406030204" pitchFamily="18" charset="0"/>
                                </a:rPr>
                                <m:t>−</m:t>
                              </m:r>
                              <m:r>
                                <a:rPr lang="en-US" sz="2400" i="1">
                                  <a:latin typeface="Cambria Math" panose="02040503050406030204" pitchFamily="18" charset="0"/>
                                </a:rPr>
                                <m:t>𝛾</m:t>
                              </m:r>
                            </m:e>
                          </m:d>
                        </m:sup>
                      </m:sSup>
                      <m:r>
                        <a:rPr lang="en-US" sz="2400" i="1">
                          <a:latin typeface="Cambria Math" panose="02040503050406030204" pitchFamily="18" charset="0"/>
                        </a:rPr>
                        <m:t>𝑒𝑥𝑝</m:t>
                      </m:r>
                      <m:d>
                        <m:dPr>
                          <m:begChr m:val="["/>
                          <m:endChr m:val="]"/>
                          <m:ctrlPr>
                            <a:rPr lang="en-US" sz="2400" i="0">
                              <a:latin typeface="Cambria Math" panose="02040503050406030204" pitchFamily="18" charset="0"/>
                            </a:rPr>
                          </m:ctrlPr>
                        </m:dPr>
                        <m:e>
                          <m:r>
                            <a:rPr lang="en-US" sz="2400" i="0">
                              <a:latin typeface="Cambria Math" panose="02040503050406030204" pitchFamily="18" charset="0"/>
                            </a:rPr>
                            <m:t>−</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f>
                                    <m:fPr>
                                      <m:type m:val="lin"/>
                                      <m:ctrlPr>
                                        <a:rPr lang="en-US" sz="2400" i="1">
                                          <a:latin typeface="Cambria Math" panose="02040503050406030204" pitchFamily="18" charset="0"/>
                                        </a:rPr>
                                      </m:ctrlPr>
                                    </m:fPr>
                                    <m:num>
                                      <m:r>
                                        <a:rPr lang="en-US" sz="2400" i="1">
                                          <a:latin typeface="Cambria Math" panose="02040503050406030204" pitchFamily="18" charset="0"/>
                                        </a:rPr>
                                        <m:t>𝑅</m:t>
                                      </m:r>
                                    </m:num>
                                    <m:den>
                                      <m:r>
                                        <a:rPr lang="en-US" sz="2400" i="1">
                                          <a:latin typeface="Cambria Math" panose="02040503050406030204" pitchFamily="18" charset="0"/>
                                        </a:rPr>
                                        <m:t>𝑅</m:t>
                                      </m:r>
                                    </m:den>
                                  </m:f>
                                  <m:r>
                                    <a:rPr lang="en-US" sz="2400" i="1">
                                      <a:latin typeface="Cambria Math" panose="02040503050406030204" pitchFamily="18" charset="0"/>
                                    </a:rPr>
                                    <m:t>𝑐</m:t>
                                  </m:r>
                                </m:e>
                              </m:d>
                            </m:e>
                            <m:sup>
                              <m:d>
                                <m:dPr>
                                  <m:ctrlPr>
                                    <a:rPr lang="en-US" sz="2400" i="0">
                                      <a:latin typeface="Cambria Math" panose="02040503050406030204" pitchFamily="18" charset="0"/>
                                    </a:rPr>
                                  </m:ctrlPr>
                                </m:dPr>
                                <m:e>
                                  <m:r>
                                    <a:rPr lang="en-US" sz="2400" i="0">
                                      <a:latin typeface="Cambria Math" panose="02040503050406030204" pitchFamily="18" charset="0"/>
                                    </a:rPr>
                                    <m:t>2−</m:t>
                                  </m:r>
                                  <m:r>
                                    <a:rPr lang="en-US" sz="2400" i="1">
                                      <a:latin typeface="Cambria Math" panose="02040503050406030204" pitchFamily="18" charset="0"/>
                                    </a:rPr>
                                    <m:t>𝛾</m:t>
                                  </m:r>
                                </m:e>
                              </m:d>
                            </m:sup>
                          </m:sSup>
                        </m:e>
                      </m:d>
                    </m:oMath>
                  </m:oMathPara>
                </a14:m>
                <a:endParaRPr lang="en-US" sz="2400" dirty="0"/>
              </a:p>
            </p:txBody>
          </p:sp>
        </mc:Choice>
        <mc:Fallback xmlns="">
          <p:sp>
            <p:nvSpPr>
              <p:cNvPr id="9" name="TextBox 8">
                <a:extLst>
                  <a:ext uri="{FF2B5EF4-FFF2-40B4-BE49-F238E27FC236}">
                    <a16:creationId xmlns:a16="http://schemas.microsoft.com/office/drawing/2014/main" id="{F67900DA-220F-EB01-D79F-B216F08CE620}"/>
                  </a:ext>
                </a:extLst>
              </p:cNvPr>
              <p:cNvSpPr txBox="1">
                <a:spLocks noRot="1" noChangeAspect="1" noMove="1" noResize="1" noEditPoints="1" noAdjustHandles="1" noChangeArrowheads="1" noChangeShapeType="1" noTextEdit="1"/>
              </p:cNvSpPr>
              <p:nvPr/>
            </p:nvSpPr>
            <p:spPr>
              <a:xfrm>
                <a:off x="3549445" y="2835564"/>
                <a:ext cx="6096000" cy="516295"/>
              </a:xfrm>
              <a:prstGeom prst="rect">
                <a:avLst/>
              </a:prstGeom>
              <a:blipFill>
                <a:blip r:embed="rId2"/>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63753C22-B8C2-26AD-3D9A-1CB39D996606}"/>
              </a:ext>
            </a:extLst>
          </p:cNvPr>
          <p:cNvSpPr txBox="1"/>
          <p:nvPr/>
        </p:nvSpPr>
        <p:spPr>
          <a:xfrm>
            <a:off x="1076633" y="920424"/>
            <a:ext cx="8676967" cy="1631216"/>
          </a:xfrm>
          <a:prstGeom prst="rect">
            <a:avLst/>
          </a:prstGeom>
          <a:noFill/>
        </p:spPr>
        <p:txBody>
          <a:bodyPr wrap="square">
            <a:spAutoFit/>
          </a:bodyPr>
          <a:lstStyle/>
          <a:p>
            <a:pPr algn="l"/>
            <a:r>
              <a:rPr lang="en-US" sz="2000" dirty="0">
                <a:latin typeface="CMR12"/>
              </a:rPr>
              <a:t>The present work adopts a widely used analytical self-similar surface density profile. This formulation naturally produces a power-law distribution in the inner disk while introducing an exponential taper towards the outer regions, closely matching observations of many protoplanetary disks.</a:t>
            </a:r>
          </a:p>
          <a:p>
            <a:pPr algn="l"/>
            <a:r>
              <a:rPr lang="en-US" sz="2000" dirty="0">
                <a:latin typeface="CMR12"/>
              </a:rPr>
              <a:t>The adopted surface density profile is</a:t>
            </a:r>
          </a:p>
        </p:txBody>
      </p:sp>
    </p:spTree>
    <p:extLst>
      <p:ext uri="{BB962C8B-B14F-4D97-AF65-F5344CB8AC3E}">
        <p14:creationId xmlns:p14="http://schemas.microsoft.com/office/powerpoint/2010/main" val="34663165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4A84799-8046-351A-FA2C-336AD99C4AE6}"/>
                  </a:ext>
                </a:extLst>
              </p:cNvPr>
              <p:cNvSpPr txBox="1"/>
              <p:nvPr/>
            </p:nvSpPr>
            <p:spPr>
              <a:xfrm>
                <a:off x="1268362" y="1694972"/>
                <a:ext cx="8750710" cy="4077655"/>
              </a:xfrm>
              <a:prstGeom prst="rect">
                <a:avLst/>
              </a:prstGeom>
              <a:noFill/>
            </p:spPr>
            <p:txBody>
              <a:bodyPr wrap="square">
                <a:spAutoFit/>
              </a:bodyPr>
              <a:lstStyle/>
              <a:p>
                <a:pPr algn="l"/>
                <a:r>
                  <a:rPr lang="en-US" sz="2000" dirty="0">
                    <a:latin typeface="CMR12"/>
                  </a:rPr>
                  <a:t>The radial temperature profile is approximated using a simple power-law,</a:t>
                </a:r>
              </a:p>
              <a:p>
                <a:pPr algn="l"/>
                <a:endParaRPr lang="en-US" sz="2000" dirty="0">
                  <a:latin typeface="CMR12"/>
                </a:endParaRPr>
              </a:p>
              <a:p>
                <a:pPr/>
                <a14:m>
                  <m:oMathPara xmlns:m="http://schemas.openxmlformats.org/officeDocument/2006/math">
                    <m:oMath>
                      <m:r>
                        <a:rPr lang="en-US" sz="2000">
                          <a:latin typeface="Cambria Math" panose="02040503050406030204" pitchFamily="18" charset="0"/>
                        </a:rPr>
                        <m:t>𝑇</m:t>
                      </m:r>
                      <m:d>
                        <m:dPr>
                          <m:ctrlPr>
                            <a:rPr lang="en-US" sz="2000">
                              <a:latin typeface="Cambria Math" panose="02040503050406030204" pitchFamily="18" charset="0"/>
                            </a:rPr>
                          </m:ctrlPr>
                        </m:dPr>
                        <m:e>
                          <m:r>
                            <a:rPr lang="en-US" sz="2000">
                              <a:latin typeface="Cambria Math" panose="02040503050406030204" pitchFamily="18" charset="0"/>
                            </a:rPr>
                            <m:t>𝑅</m:t>
                          </m:r>
                        </m:e>
                      </m:d>
                      <m:r>
                        <a:rPr lang="en-US" sz="2000">
                          <a:latin typeface="Cambria Math" panose="02040503050406030204" pitchFamily="18" charset="0"/>
                        </a:rPr>
                        <m:t>=</m:t>
                      </m:r>
                      <m:sSub>
                        <m:sSubPr>
                          <m:ctrlPr>
                            <a:rPr lang="en-US" sz="2000">
                              <a:latin typeface="Cambria Math" panose="02040503050406030204" pitchFamily="18" charset="0"/>
                            </a:rPr>
                          </m:ctrlPr>
                        </m:sSubPr>
                        <m:e>
                          <m:r>
                            <a:rPr lang="en-US" sz="2000">
                              <a:latin typeface="Cambria Math" panose="02040503050406030204" pitchFamily="18" charset="0"/>
                            </a:rPr>
                            <m:t>𝑇</m:t>
                          </m:r>
                        </m:e>
                        <m:sub>
                          <m:r>
                            <a:rPr lang="en-US" sz="2000">
                              <a:latin typeface="Cambria Math" panose="02040503050406030204" pitchFamily="18" charset="0"/>
                            </a:rPr>
                            <m:t>0</m:t>
                          </m:r>
                        </m:sub>
                      </m:sSub>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a:latin typeface="Cambria Math" panose="02040503050406030204" pitchFamily="18" charset="0"/>
                                    </a:rPr>
                                  </m:ctrlPr>
                                </m:fPr>
                                <m:num>
                                  <m:r>
                                    <a:rPr lang="en-US" sz="2000">
                                      <a:latin typeface="Cambria Math" panose="02040503050406030204" pitchFamily="18" charset="0"/>
                                    </a:rPr>
                                    <m:t>𝑅</m:t>
                                  </m:r>
                                </m:num>
                                <m:den>
                                  <m:r>
                                    <a:rPr lang="en-US" sz="2000">
                                      <a:latin typeface="Cambria Math" panose="02040503050406030204" pitchFamily="18" charset="0"/>
                                    </a:rPr>
                                    <m:t>1 </m:t>
                                  </m:r>
                                  <m:r>
                                    <m:rPr>
                                      <m:nor/>
                                    </m:rPr>
                                    <a:rPr lang="en-US" sz="2000" i="0">
                                      <a:latin typeface="CMR12"/>
                                    </a:rPr>
                                    <m:t>AU</m:t>
                                  </m:r>
                                </m:den>
                              </m:f>
                            </m:e>
                          </m:d>
                        </m:e>
                        <m:sup>
                          <m:r>
                            <a:rPr lang="en-US" sz="2000">
                              <a:latin typeface="Cambria Math" panose="02040503050406030204" pitchFamily="18" charset="0"/>
                            </a:rPr>
                            <m:t>−</m:t>
                          </m:r>
                          <m:r>
                            <a:rPr lang="en-US" sz="2000">
                              <a:latin typeface="Cambria Math" panose="02040503050406030204" pitchFamily="18" charset="0"/>
                            </a:rPr>
                            <m:t>𝑞</m:t>
                          </m:r>
                        </m:sup>
                      </m:sSup>
                    </m:oMath>
                  </m:oMathPara>
                </a14:m>
                <a:endParaRPr lang="en-US" sz="2000" dirty="0">
                  <a:latin typeface="CMR12"/>
                </a:endParaRPr>
              </a:p>
              <a:p>
                <a:endParaRPr lang="en-US" sz="2000" dirty="0">
                  <a:latin typeface="CMR12"/>
                </a:endParaRPr>
              </a:p>
              <a:p>
                <a:pPr algn="l"/>
                <a:r>
                  <a:rPr lang="en-US" sz="2000" dirty="0">
                    <a:latin typeface="CMR12"/>
                  </a:rPr>
                  <a:t>Where :- </a:t>
                </a:r>
              </a:p>
              <a:p>
                <a:pPr algn="l"/>
                <a:endParaRPr lang="en-US" sz="800" dirty="0">
                  <a:latin typeface="CMR12"/>
                </a:endParaRPr>
              </a:p>
              <a:p>
                <a:pPr algn="l"/>
                <a:r>
                  <a:rPr lang="en-US" sz="2000" dirty="0">
                    <a:latin typeface="CMR12"/>
                  </a:rPr>
                  <a:t>•  T0 is the reference temperature,</a:t>
                </a:r>
              </a:p>
              <a:p>
                <a:pPr algn="l"/>
                <a:endParaRPr lang="en-US" sz="800" dirty="0">
                  <a:latin typeface="CMR12"/>
                </a:endParaRPr>
              </a:p>
              <a:p>
                <a:pPr algn="l"/>
                <a:r>
                  <a:rPr lang="en-US" sz="2000" dirty="0">
                    <a:latin typeface="CMR12"/>
                  </a:rPr>
                  <a:t>•  R0 is the reference radius,</a:t>
                </a:r>
              </a:p>
              <a:p>
                <a:pPr algn="l"/>
                <a:endParaRPr lang="en-US" sz="800" dirty="0">
                  <a:latin typeface="CMR12"/>
                </a:endParaRPr>
              </a:p>
              <a:p>
                <a:pPr algn="l"/>
                <a:r>
                  <a:rPr lang="en-US" sz="2000" dirty="0">
                    <a:latin typeface="CMR12"/>
                  </a:rPr>
                  <a:t>•  q is the temperature exponent.</a:t>
                </a:r>
              </a:p>
              <a:p>
                <a:pPr algn="l"/>
                <a:endParaRPr lang="en-US" sz="800" dirty="0">
                  <a:latin typeface="CMR12"/>
                </a:endParaRPr>
              </a:p>
              <a:p>
                <a:pPr algn="l"/>
                <a:r>
                  <a:rPr lang="en-US" sz="2000" dirty="0">
                    <a:latin typeface="CMR12"/>
                  </a:rPr>
                  <a:t>This relation captures the gradual cooling of the disk with increasing distance from</a:t>
                </a:r>
              </a:p>
              <a:p>
                <a:pPr algn="l"/>
                <a:r>
                  <a:rPr lang="en-US" sz="2000" dirty="0">
                    <a:latin typeface="CMR12"/>
                  </a:rPr>
                  <a:t>the star and provides the thermal input required for subsequent calculations.</a:t>
                </a:r>
              </a:p>
            </p:txBody>
          </p:sp>
        </mc:Choice>
        <mc:Fallback xmlns="">
          <p:sp>
            <p:nvSpPr>
              <p:cNvPr id="5" name="TextBox 4">
                <a:extLst>
                  <a:ext uri="{FF2B5EF4-FFF2-40B4-BE49-F238E27FC236}">
                    <a16:creationId xmlns:a16="http://schemas.microsoft.com/office/drawing/2014/main" id="{04A84799-8046-351A-FA2C-336AD99C4AE6}"/>
                  </a:ext>
                </a:extLst>
              </p:cNvPr>
              <p:cNvSpPr txBox="1">
                <a:spLocks noRot="1" noChangeAspect="1" noMove="1" noResize="1" noEditPoints="1" noAdjustHandles="1" noChangeArrowheads="1" noChangeShapeType="1" noTextEdit="1"/>
              </p:cNvSpPr>
              <p:nvPr/>
            </p:nvSpPr>
            <p:spPr>
              <a:xfrm>
                <a:off x="1268362" y="1694972"/>
                <a:ext cx="8750710" cy="4077655"/>
              </a:xfrm>
              <a:prstGeom prst="rect">
                <a:avLst/>
              </a:prstGeom>
              <a:blipFill>
                <a:blip r:embed="rId2"/>
                <a:stretch>
                  <a:fillRect l="-696" t="-747" b="-1644"/>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CE7F1613-D2D5-090A-1501-936B9E12AEAB}"/>
              </a:ext>
            </a:extLst>
          </p:cNvPr>
          <p:cNvSpPr txBox="1"/>
          <p:nvPr/>
        </p:nvSpPr>
        <p:spPr>
          <a:xfrm>
            <a:off x="1268362" y="864842"/>
            <a:ext cx="5574890" cy="646331"/>
          </a:xfrm>
          <a:prstGeom prst="rect">
            <a:avLst/>
          </a:prstGeom>
          <a:noFill/>
        </p:spPr>
        <p:txBody>
          <a:bodyPr wrap="square">
            <a:spAutoFit/>
          </a:bodyPr>
          <a:lstStyle/>
          <a:p>
            <a:r>
              <a:rPr lang="en-US" sz="3600" kern="100" dirty="0">
                <a:latin typeface="Algerian" panose="04020705040A02060702" pitchFamily="82" charset="0"/>
                <a:cs typeface="Mangal" panose="02040503050203030202" pitchFamily="18" charset="0"/>
              </a:rPr>
              <a:t>Temperature Profile</a:t>
            </a:r>
          </a:p>
        </p:txBody>
      </p:sp>
    </p:spTree>
    <p:extLst>
      <p:ext uri="{BB962C8B-B14F-4D97-AF65-F5344CB8AC3E}">
        <p14:creationId xmlns:p14="http://schemas.microsoft.com/office/powerpoint/2010/main" val="166780363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39A7E70-8099-25D7-85BC-63E588E02355}"/>
                  </a:ext>
                </a:extLst>
              </p:cNvPr>
              <p:cNvSpPr txBox="1"/>
              <p:nvPr/>
            </p:nvSpPr>
            <p:spPr>
              <a:xfrm>
                <a:off x="855406" y="679850"/>
                <a:ext cx="9172513" cy="5498300"/>
              </a:xfrm>
              <a:prstGeom prst="rect">
                <a:avLst/>
              </a:prstGeom>
              <a:noFill/>
            </p:spPr>
            <p:txBody>
              <a:bodyPr wrap="square">
                <a:spAutoFit/>
              </a:bodyPr>
              <a:lstStyle/>
              <a:p>
                <a:pPr algn="l"/>
                <a:r>
                  <a:rPr lang="en-US" sz="3200" kern="100" dirty="0">
                    <a:latin typeface="Algerian" panose="04020705040A02060702" pitchFamily="82" charset="0"/>
                    <a:cs typeface="Mangal" panose="02040503050203030202" pitchFamily="18" charset="0"/>
                  </a:rPr>
                  <a:t>Pressure Scale Height</a:t>
                </a:r>
              </a:p>
              <a:p>
                <a:pPr algn="l"/>
                <a:endParaRPr lang="en-US" sz="800" kern="100" dirty="0">
                  <a:latin typeface="Algerian" panose="04020705040A02060702" pitchFamily="82" charset="0"/>
                  <a:cs typeface="Mangal" panose="02040503050203030202" pitchFamily="18" charset="0"/>
                </a:endParaRPr>
              </a:p>
              <a:p>
                <a:pPr algn="l"/>
                <a:r>
                  <a:rPr lang="en-US" dirty="0">
                    <a:latin typeface="CMR12"/>
                  </a:rPr>
                  <a:t>The vertical thickness of the disk is governed by the balance between thermal pressure and stellar gravity. This characteristic thickness is quantified by the pressure scale height.</a:t>
                </a:r>
              </a:p>
              <a:p>
                <a:pPr algn="l"/>
                <a:r>
                  <a:rPr lang="en-US" dirty="0">
                    <a:latin typeface="CMR12"/>
                  </a:rPr>
                  <a:t>The first step is to determine the isothermal sound speed,</a:t>
                </a:r>
              </a:p>
              <a:p>
                <a:pPr algn="l"/>
                <a:endParaRPr lang="en-US" sz="1400" dirty="0">
                  <a:latin typeface="CMR12"/>
                </a:endParaRPr>
              </a:p>
              <a:p>
                <a:pPr/>
                <a14:m>
                  <m:oMathPara xmlns:m="http://schemas.openxmlformats.org/officeDocument/2006/math">
                    <m:oMath>
                      <m:sSub>
                        <m:sSubPr>
                          <m:ctrlPr>
                            <a:rPr lang="en-US" sz="2000" i="1">
                              <a:latin typeface="Cambria Math" panose="02040503050406030204" pitchFamily="18" charset="0"/>
                            </a:rPr>
                          </m:ctrlPr>
                        </m:sSubPr>
                        <m:e>
                          <m:r>
                            <a:rPr lang="en-US" sz="2000" i="1">
                              <a:latin typeface="Cambria Math" panose="02040503050406030204" pitchFamily="18" charset="0"/>
                            </a:rPr>
                            <m:t>𝑐</m:t>
                          </m:r>
                        </m:e>
                        <m:sub>
                          <m:r>
                            <a:rPr lang="en-US" sz="2000" i="1">
                              <a:latin typeface="Cambria Math" panose="02040503050406030204" pitchFamily="18" charset="0"/>
                            </a:rPr>
                            <m:t>𝑠</m:t>
                          </m:r>
                        </m:sub>
                      </m:sSub>
                      <m:r>
                        <a:rPr lang="en-US" sz="2000" i="1">
                          <a:latin typeface="Cambria Math" panose="02040503050406030204" pitchFamily="18" charset="0"/>
                        </a:rPr>
                        <m:t>=</m:t>
                      </m:r>
                      <m:rad>
                        <m:radPr>
                          <m:degHide m:val="on"/>
                          <m:ctrlPr>
                            <a:rPr lang="en-US" sz="2000" i="1">
                              <a:latin typeface="Cambria Math" panose="02040503050406030204" pitchFamily="18" charset="0"/>
                            </a:rPr>
                          </m:ctrlPr>
                        </m:radPr>
                        <m:deg/>
                        <m:e>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𝑘</m:t>
                                  </m:r>
                                </m:e>
                                <m:sub>
                                  <m:r>
                                    <a:rPr lang="en-US" sz="2000" i="1">
                                      <a:latin typeface="Cambria Math" panose="02040503050406030204" pitchFamily="18" charset="0"/>
                                    </a:rPr>
                                    <m:t>𝐵</m:t>
                                  </m:r>
                                </m:sub>
                              </m:sSub>
                              <m:r>
                                <a:rPr lang="en-US" sz="2000" i="1">
                                  <a:latin typeface="Cambria Math" panose="02040503050406030204" pitchFamily="18" charset="0"/>
                                </a:rPr>
                                <m:t>𝑇</m:t>
                              </m:r>
                            </m:num>
                            <m:den>
                              <m:r>
                                <a:rPr lang="en-US" sz="2000" i="1">
                                  <a:latin typeface="Cambria Math" panose="02040503050406030204" pitchFamily="18" charset="0"/>
                                </a:rPr>
                                <m:t>𝜇</m:t>
                              </m:r>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i="1">
                                      <a:latin typeface="Cambria Math" panose="02040503050406030204" pitchFamily="18" charset="0"/>
                                    </a:rPr>
                                    <m:t>𝐻</m:t>
                                  </m:r>
                                </m:sub>
                              </m:sSub>
                            </m:den>
                          </m:f>
                        </m:e>
                      </m:rad>
                    </m:oMath>
                  </m:oMathPara>
                </a14:m>
                <a:endParaRPr lang="en-US" dirty="0">
                  <a:latin typeface="CMR12"/>
                </a:endParaRPr>
              </a:p>
              <a:p>
                <a:endParaRPr lang="en-US" sz="1400" dirty="0">
                  <a:latin typeface="CMR12"/>
                </a:endParaRPr>
              </a:p>
              <a:p>
                <a:pPr algn="l"/>
                <a:r>
                  <a:rPr lang="en-US" dirty="0">
                    <a:latin typeface="CMR12"/>
                  </a:rPr>
                  <a:t>Where :- </a:t>
                </a:r>
              </a:p>
              <a:p>
                <a:pPr algn="l"/>
                <a:r>
                  <a:rPr lang="en-US" dirty="0">
                    <a:latin typeface="CMR12"/>
                  </a:rPr>
                  <a:t>•  kB is the Boltzmann constant,</a:t>
                </a:r>
              </a:p>
              <a:p>
                <a:pPr algn="l"/>
                <a:r>
                  <a:rPr lang="en-US" dirty="0">
                    <a:latin typeface="CMR12"/>
                  </a:rPr>
                  <a:t>•  μ is the mean molecular weight,</a:t>
                </a:r>
              </a:p>
              <a:p>
                <a:pPr algn="l"/>
                <a:r>
                  <a:rPr lang="en-US" dirty="0">
                    <a:latin typeface="CMR12"/>
                  </a:rPr>
                  <a:t>•  mH is the hydrogen mass.</a:t>
                </a:r>
              </a:p>
              <a:p>
                <a:pPr algn="l"/>
                <a:endParaRPr lang="en-US" dirty="0">
                  <a:latin typeface="CMR12"/>
                </a:endParaRPr>
              </a:p>
              <a:p>
                <a:pPr algn="l"/>
                <a:r>
                  <a:rPr lang="en-US" dirty="0">
                    <a:latin typeface="CMR12"/>
                  </a:rPr>
                  <a:t>The pressure scale height then follows directly from the condition of hydrostatic equilibrium,</a:t>
                </a:r>
              </a:p>
              <a:p>
                <a:pPr algn="l"/>
                <a:endParaRPr lang="en-US" sz="1400" dirty="0">
                  <a:latin typeface="CMR12"/>
                </a:endParaRPr>
              </a:p>
              <a:p>
                <a:pPr/>
                <a14:m>
                  <m:oMathPara xmlns:m="http://schemas.openxmlformats.org/officeDocument/2006/math">
                    <m:oMath>
                      <m:r>
                        <a:rPr lang="en-US" sz="2000" i="1">
                          <a:latin typeface="Cambria Math" panose="02040503050406030204" pitchFamily="18" charset="0"/>
                        </a:rPr>
                        <m:t>𝐻</m:t>
                      </m:r>
                      <m:d>
                        <m:dPr>
                          <m:ctrlPr>
                            <a:rPr lang="en-US" sz="2000" i="1">
                              <a:latin typeface="Cambria Math" panose="02040503050406030204" pitchFamily="18" charset="0"/>
                            </a:rPr>
                          </m:ctrlPr>
                        </m:dPr>
                        <m:e>
                          <m:r>
                            <a:rPr lang="en-US" sz="2000" i="1">
                              <a:latin typeface="Cambria Math" panose="02040503050406030204" pitchFamily="18" charset="0"/>
                            </a:rPr>
                            <m:t>𝑅</m:t>
                          </m:r>
                        </m:e>
                      </m:d>
                      <m:r>
                        <a:rPr lang="en-US" sz="2000" i="1">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𝑐</m:t>
                              </m:r>
                            </m:e>
                            <m:sub>
                              <m:r>
                                <a:rPr lang="en-US" sz="2000" i="1">
                                  <a:latin typeface="Cambria Math" panose="02040503050406030204" pitchFamily="18" charset="0"/>
                                </a:rPr>
                                <m:t>𝑠</m:t>
                              </m:r>
                            </m:sub>
                          </m:sSub>
                        </m:num>
                        <m:den>
                          <m:r>
                            <a:rPr lang="en-US" sz="2000" i="1">
                              <a:latin typeface="Cambria Math" panose="02040503050406030204" pitchFamily="18" charset="0"/>
                            </a:rPr>
                            <m:t>𝛺</m:t>
                          </m:r>
                        </m:den>
                      </m:f>
                    </m:oMath>
                  </m:oMathPara>
                </a14:m>
                <a:endParaRPr lang="en-US" dirty="0">
                  <a:latin typeface="CMR12"/>
                </a:endParaRPr>
              </a:p>
              <a:p>
                <a:endParaRPr lang="en-US" sz="1600" dirty="0">
                  <a:latin typeface="CMR12"/>
                </a:endParaRPr>
              </a:p>
            </p:txBody>
          </p:sp>
        </mc:Choice>
        <mc:Fallback xmlns="">
          <p:sp>
            <p:nvSpPr>
              <p:cNvPr id="7" name="TextBox 6">
                <a:extLst>
                  <a:ext uri="{FF2B5EF4-FFF2-40B4-BE49-F238E27FC236}">
                    <a16:creationId xmlns:a16="http://schemas.microsoft.com/office/drawing/2014/main" id="{939A7E70-8099-25D7-85BC-63E588E02355}"/>
                  </a:ext>
                </a:extLst>
              </p:cNvPr>
              <p:cNvSpPr txBox="1">
                <a:spLocks noRot="1" noChangeAspect="1" noMove="1" noResize="1" noEditPoints="1" noAdjustHandles="1" noChangeArrowheads="1" noChangeShapeType="1" noTextEdit="1"/>
              </p:cNvSpPr>
              <p:nvPr/>
            </p:nvSpPr>
            <p:spPr>
              <a:xfrm>
                <a:off x="855406" y="679850"/>
                <a:ext cx="9172513" cy="5498300"/>
              </a:xfrm>
              <a:prstGeom prst="rect">
                <a:avLst/>
              </a:prstGeom>
              <a:blipFill>
                <a:blip r:embed="rId2"/>
                <a:stretch>
                  <a:fillRect l="-1661" t="-1443"/>
                </a:stretch>
              </a:blipFill>
            </p:spPr>
            <p:txBody>
              <a:bodyPr/>
              <a:lstStyle/>
              <a:p>
                <a:r>
                  <a:rPr lang="en-US">
                    <a:noFill/>
                  </a:rPr>
                  <a:t> </a:t>
                </a:r>
              </a:p>
            </p:txBody>
          </p:sp>
        </mc:Fallback>
      </mc:AlternateContent>
    </p:spTree>
    <p:extLst>
      <p:ext uri="{BB962C8B-B14F-4D97-AF65-F5344CB8AC3E}">
        <p14:creationId xmlns:p14="http://schemas.microsoft.com/office/powerpoint/2010/main" val="44142436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E3F98FB-31C2-E1F3-B940-4E4C6A1E52D5}"/>
              </a:ext>
            </a:extLst>
          </p:cNvPr>
          <p:cNvSpPr txBox="1"/>
          <p:nvPr/>
        </p:nvSpPr>
        <p:spPr>
          <a:xfrm>
            <a:off x="863600" y="812800"/>
            <a:ext cx="10464800" cy="1631216"/>
          </a:xfrm>
          <a:prstGeom prst="rect">
            <a:avLst/>
          </a:prstGeom>
          <a:noFill/>
        </p:spPr>
        <p:txBody>
          <a:bodyPr wrap="square">
            <a:spAutoFit/>
          </a:bodyPr>
          <a:lstStyle/>
          <a:p>
            <a:pPr algn="l"/>
            <a:r>
              <a:rPr lang="en-US" sz="2000" dirty="0">
                <a:latin typeface="CMR12"/>
              </a:rPr>
              <a:t>The radial increase in scale height naturally produces the flared geometry commonly observed in passive protoplanetary disks. The flared shape is a balance between stellar gravity pulling the material down and thermal gas pressure pushing it up. Because the star’s vertical gravitational pull weakens rapidly at larger distances, the thermal pressure allows the outer parts of the disk to expand vertically, creating the characteristic flared geometry.</a:t>
            </a:r>
          </a:p>
        </p:txBody>
      </p:sp>
      <p:pic>
        <p:nvPicPr>
          <p:cNvPr id="9" name="Picture 8">
            <a:extLst>
              <a:ext uri="{FF2B5EF4-FFF2-40B4-BE49-F238E27FC236}">
                <a16:creationId xmlns:a16="http://schemas.microsoft.com/office/drawing/2014/main" id="{69FC08B0-519A-3EE7-9EED-C954F9A72335}"/>
              </a:ext>
            </a:extLst>
          </p:cNvPr>
          <p:cNvPicPr>
            <a:picLocks noChangeAspect="1"/>
          </p:cNvPicPr>
          <p:nvPr/>
        </p:nvPicPr>
        <p:blipFill>
          <a:blip r:embed="rId2"/>
          <a:stretch>
            <a:fillRect/>
          </a:stretch>
        </p:blipFill>
        <p:spPr>
          <a:xfrm>
            <a:off x="2231549" y="2683509"/>
            <a:ext cx="7728902" cy="3951619"/>
          </a:xfrm>
          <a:prstGeom prst="rect">
            <a:avLst/>
          </a:prstGeom>
        </p:spPr>
      </p:pic>
    </p:spTree>
    <p:extLst>
      <p:ext uri="{BB962C8B-B14F-4D97-AF65-F5344CB8AC3E}">
        <p14:creationId xmlns:p14="http://schemas.microsoft.com/office/powerpoint/2010/main" val="89182110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1352FE-7780-C54D-554E-617934AB86C2}"/>
                  </a:ext>
                </a:extLst>
              </p:cNvPr>
              <p:cNvSpPr txBox="1"/>
              <p:nvPr/>
            </p:nvSpPr>
            <p:spPr>
              <a:xfrm>
                <a:off x="820420" y="980990"/>
                <a:ext cx="9329420" cy="4896020"/>
              </a:xfrm>
              <a:prstGeom prst="rect">
                <a:avLst/>
              </a:prstGeom>
              <a:noFill/>
            </p:spPr>
            <p:txBody>
              <a:bodyPr wrap="square">
                <a:spAutoFit/>
              </a:bodyPr>
              <a:lstStyle/>
              <a:p>
                <a:pPr algn="l"/>
                <a:r>
                  <a:rPr lang="en-US" sz="3200" kern="100" dirty="0">
                    <a:latin typeface="Algerian" panose="04020705040A02060702" pitchFamily="82" charset="0"/>
                    <a:cs typeface="Mangal" panose="02040503050203030202" pitchFamily="18" charset="0"/>
                  </a:rPr>
                  <a:t>Vertical Density Distribution</a:t>
                </a:r>
              </a:p>
              <a:p>
                <a:pPr algn="l"/>
                <a:endParaRPr lang="en-US" sz="900" kern="100" dirty="0">
                  <a:latin typeface="Algerian" panose="04020705040A02060702" pitchFamily="82" charset="0"/>
                  <a:cs typeface="Mangal" panose="02040503050203030202" pitchFamily="18" charset="0"/>
                </a:endParaRPr>
              </a:p>
              <a:p>
                <a:pPr algn="l"/>
                <a:r>
                  <a:rPr lang="en-US" dirty="0">
                    <a:latin typeface="CMR12"/>
                  </a:rPr>
                  <a:t>The three-dimensional density structure of the disk is reconstructed by assuming vertical hydrostatic equilibrium together with an isothermal vertical temperature profile.</a:t>
                </a:r>
              </a:p>
              <a:p>
                <a:pPr algn="l"/>
                <a:r>
                  <a:rPr lang="en-US" dirty="0">
                    <a:latin typeface="CMR12"/>
                  </a:rPr>
                  <a:t>Under these assumptions, the gas density follows a Gaussian distribution,</a:t>
                </a:r>
              </a:p>
              <a:p>
                <a:pPr algn="l"/>
                <a:endParaRPr lang="en-US" dirty="0">
                  <a:latin typeface="CMR12"/>
                </a:endParaRPr>
              </a:p>
              <a:p>
                <a:pPr/>
                <a14:m>
                  <m:oMathPara xmlns:m="http://schemas.openxmlformats.org/officeDocument/2006/math">
                    <m:oMath>
                      <m:r>
                        <a:rPr lang="en-US" sz="2400" i="1">
                          <a:latin typeface="Cambria Math" panose="02040503050406030204" pitchFamily="18" charset="0"/>
                        </a:rPr>
                        <m:t>𝜌</m:t>
                      </m:r>
                      <m:d>
                        <m:dPr>
                          <m:ctrlPr>
                            <a:rPr lang="en-US" sz="2400" i="1">
                              <a:latin typeface="Cambria Math" panose="02040503050406030204" pitchFamily="18" charset="0"/>
                            </a:rPr>
                          </m:ctrlPr>
                        </m:dPr>
                        <m:e>
                          <m:r>
                            <a:rPr lang="en-US" sz="2400" i="1">
                              <a:latin typeface="Cambria Math" panose="02040503050406030204" pitchFamily="18" charset="0"/>
                            </a:rPr>
                            <m:t>𝑅</m:t>
                          </m:r>
                          <m:r>
                            <a:rPr lang="en-US" sz="2400" i="1">
                              <a:latin typeface="Cambria Math" panose="02040503050406030204" pitchFamily="18" charset="0"/>
                            </a:rPr>
                            <m:t>,</m:t>
                          </m:r>
                          <m:r>
                            <a:rPr lang="en-US" sz="2400" i="1">
                              <a:latin typeface="Cambria Math" panose="02040503050406030204" pitchFamily="18" charset="0"/>
                            </a:rPr>
                            <m:t>𝑧</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𝛴</m:t>
                          </m:r>
                          <m:d>
                            <m:dPr>
                              <m:ctrlPr>
                                <a:rPr lang="en-US" sz="2400" i="1">
                                  <a:latin typeface="Cambria Math" panose="02040503050406030204" pitchFamily="18" charset="0"/>
                                </a:rPr>
                              </m:ctrlPr>
                            </m:dPr>
                            <m:e>
                              <m:r>
                                <a:rPr lang="en-US" sz="2400" i="1">
                                  <a:latin typeface="Cambria Math" panose="02040503050406030204" pitchFamily="18" charset="0"/>
                                </a:rPr>
                                <m:t>𝑅</m:t>
                              </m:r>
                            </m:e>
                          </m:d>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2</m:t>
                              </m:r>
                              <m:r>
                                <a:rPr lang="en-US" sz="2400" i="1">
                                  <a:latin typeface="Cambria Math" panose="02040503050406030204" pitchFamily="18" charset="0"/>
                                </a:rPr>
                                <m:t>𝜋</m:t>
                              </m:r>
                            </m:e>
                          </m:rad>
                          <m:r>
                            <a:rPr lang="en-US" sz="2400" i="1">
                              <a:latin typeface="Cambria Math" panose="02040503050406030204" pitchFamily="18" charset="0"/>
                            </a:rPr>
                            <m:t>𝐻</m:t>
                          </m:r>
                          <m:d>
                            <m:dPr>
                              <m:ctrlPr>
                                <a:rPr lang="en-US" sz="2400" i="1">
                                  <a:latin typeface="Cambria Math" panose="02040503050406030204" pitchFamily="18" charset="0"/>
                                </a:rPr>
                              </m:ctrlPr>
                            </m:dPr>
                            <m:e>
                              <m:r>
                                <a:rPr lang="en-US" sz="2400" i="1">
                                  <a:latin typeface="Cambria Math" panose="02040503050406030204" pitchFamily="18" charset="0"/>
                                </a:rPr>
                                <m:t>𝑅</m:t>
                              </m:r>
                            </m:e>
                          </m:d>
                        </m:den>
                      </m:f>
                      <m:func>
                        <m:funcPr>
                          <m:ctrlPr>
                            <a:rPr lang="en-US" sz="2400">
                              <a:latin typeface="Cambria Math" panose="02040503050406030204" pitchFamily="18" charset="0"/>
                            </a:rPr>
                          </m:ctrlPr>
                        </m:funcPr>
                        <m:fName>
                          <m:r>
                            <m:rPr>
                              <m:sty m:val="p"/>
                            </m:rPr>
                            <a:rPr lang="en-US" sz="2400">
                              <a:latin typeface="Cambria Math" panose="02040503050406030204" pitchFamily="18" charset="0"/>
                            </a:rPr>
                            <m:t>exp</m:t>
                          </m:r>
                        </m:fName>
                        <m:e>
                          <m:d>
                            <m:dPr>
                              <m:ctrlPr>
                                <a:rPr lang="en-US" sz="2400" i="1">
                                  <a:latin typeface="Cambria Math" panose="02040503050406030204" pitchFamily="18" charset="0"/>
                                </a:rPr>
                              </m:ctrlPr>
                            </m:dPr>
                            <m:e>
                              <m:r>
                                <a:rPr lang="en-US" sz="2400" i="1">
                                  <a:latin typeface="Cambria Math" panose="02040503050406030204" pitchFamily="18" charset="0"/>
                                </a:rPr>
                                <m:t>−</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𝑧</m:t>
                                      </m:r>
                                    </m:e>
                                    <m:sup>
                                      <m:r>
                                        <a:rPr lang="en-US" sz="2400" i="1">
                                          <a:latin typeface="Cambria Math" panose="02040503050406030204" pitchFamily="18" charset="0"/>
                                        </a:rPr>
                                        <m:t>2</m:t>
                                      </m:r>
                                    </m:sup>
                                  </m:sSup>
                                </m:num>
                                <m:den>
                                  <m:r>
                                    <a:rPr lang="en-US" sz="2400" i="1">
                                      <a:latin typeface="Cambria Math" panose="02040503050406030204" pitchFamily="18" charset="0"/>
                                    </a:rPr>
                                    <m:t>2</m:t>
                                  </m:r>
                                  <m:r>
                                    <a:rPr lang="en-US" sz="2400" i="1">
                                      <a:latin typeface="Cambria Math" panose="02040503050406030204" pitchFamily="18" charset="0"/>
                                    </a:rPr>
                                    <m:t>𝐻</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i="1">
                                              <a:latin typeface="Cambria Math" panose="02040503050406030204" pitchFamily="18" charset="0"/>
                                            </a:rPr>
                                            <m:t>𝑅</m:t>
                                          </m:r>
                                        </m:e>
                                      </m:d>
                                    </m:e>
                                    <m:sup>
                                      <m:r>
                                        <a:rPr lang="en-US" sz="2400" i="1">
                                          <a:latin typeface="Cambria Math" panose="02040503050406030204" pitchFamily="18" charset="0"/>
                                        </a:rPr>
                                        <m:t>2</m:t>
                                      </m:r>
                                    </m:sup>
                                  </m:sSup>
                                </m:den>
                              </m:f>
                            </m:e>
                          </m:d>
                        </m:e>
                      </m:func>
                    </m:oMath>
                  </m:oMathPara>
                </a14:m>
                <a:endParaRPr lang="en-US" sz="2000" dirty="0">
                  <a:latin typeface="CMR12"/>
                </a:endParaRPr>
              </a:p>
              <a:p>
                <a:pPr algn="l"/>
                <a:endParaRPr lang="en-US" dirty="0">
                  <a:latin typeface="CMR12"/>
                </a:endParaRPr>
              </a:p>
              <a:p>
                <a:pPr algn="l"/>
                <a:r>
                  <a:rPr lang="en-US" dirty="0">
                    <a:latin typeface="CMR12"/>
                  </a:rPr>
                  <a:t>The Gaussian profile concentrates the majority of the gas close to the disk midplane</a:t>
                </a:r>
              </a:p>
              <a:p>
                <a:pPr algn="l"/>
                <a:r>
                  <a:rPr lang="en-US" dirty="0">
                    <a:latin typeface="CMR12"/>
                  </a:rPr>
                  <a:t>while allowing the density to decrease smoothly with height. This equation is used</a:t>
                </a:r>
              </a:p>
              <a:p>
                <a:pPr algn="l"/>
                <a:r>
                  <a:rPr lang="en-US" dirty="0">
                    <a:latin typeface="CMR12"/>
                  </a:rPr>
                  <a:t>to generate the two-dimensional density maps and vertical cross-sectional visualizations</a:t>
                </a:r>
              </a:p>
              <a:p>
                <a:r>
                  <a:rPr lang="en-US" dirty="0">
                    <a:latin typeface="CMR12"/>
                  </a:rPr>
                  <a:t>produced by the simulator.</a:t>
                </a:r>
                <a:r>
                  <a:rPr lang="en-US" sz="1600" dirty="0"/>
                  <a:t> </a:t>
                </a:r>
              </a:p>
              <a:p>
                <a:r>
                  <a:rPr lang="en-US" dirty="0">
                    <a:latin typeface="CMR12"/>
                  </a:rPr>
                  <a:t>Together, these equations form the mathematical foundation of the computational framework developed in this project.</a:t>
                </a:r>
                <a:r>
                  <a:rPr lang="en-US" sz="1600" dirty="0"/>
                  <a:t> </a:t>
                </a:r>
                <a:r>
                  <a:rPr lang="en-US" dirty="0">
                    <a:latin typeface="CMR12"/>
                  </a:rPr>
                  <a:t>The mathematical framework presented is implemented as a modular Python-based simulation pipeline.</a:t>
                </a:r>
              </a:p>
            </p:txBody>
          </p:sp>
        </mc:Choice>
        <mc:Fallback xmlns="">
          <p:sp>
            <p:nvSpPr>
              <p:cNvPr id="5" name="TextBox 4">
                <a:extLst>
                  <a:ext uri="{FF2B5EF4-FFF2-40B4-BE49-F238E27FC236}">
                    <a16:creationId xmlns:a16="http://schemas.microsoft.com/office/drawing/2014/main" id="{F41352FE-7780-C54D-554E-617934AB86C2}"/>
                  </a:ext>
                </a:extLst>
              </p:cNvPr>
              <p:cNvSpPr txBox="1">
                <a:spLocks noRot="1" noChangeAspect="1" noMove="1" noResize="1" noEditPoints="1" noAdjustHandles="1" noChangeArrowheads="1" noChangeShapeType="1" noTextEdit="1"/>
              </p:cNvSpPr>
              <p:nvPr/>
            </p:nvSpPr>
            <p:spPr>
              <a:xfrm>
                <a:off x="820420" y="980990"/>
                <a:ext cx="9329420" cy="4896020"/>
              </a:xfrm>
              <a:prstGeom prst="rect">
                <a:avLst/>
              </a:prstGeom>
              <a:blipFill>
                <a:blip r:embed="rId2"/>
                <a:stretch>
                  <a:fillRect l="-1699" t="-1619" b="-996"/>
                </a:stretch>
              </a:blipFill>
            </p:spPr>
            <p:txBody>
              <a:bodyPr/>
              <a:lstStyle/>
              <a:p>
                <a:r>
                  <a:rPr lang="en-US">
                    <a:noFill/>
                  </a:rPr>
                  <a:t> </a:t>
                </a:r>
              </a:p>
            </p:txBody>
          </p:sp>
        </mc:Fallback>
      </mc:AlternateContent>
    </p:spTree>
    <p:extLst>
      <p:ext uri="{BB962C8B-B14F-4D97-AF65-F5344CB8AC3E}">
        <p14:creationId xmlns:p14="http://schemas.microsoft.com/office/powerpoint/2010/main" val="310515214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AA793-E4F5-BD5E-3AC4-100E481A8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0F9BA-FA76-6332-D5D0-7CD3E415E5E6}"/>
              </a:ext>
            </a:extLst>
          </p:cNvPr>
          <p:cNvSpPr>
            <a:spLocks noGrp="1"/>
          </p:cNvSpPr>
          <p:nvPr>
            <p:ph type="title"/>
          </p:nvPr>
        </p:nvSpPr>
        <p:spPr>
          <a:xfrm>
            <a:off x="3474720" y="2700866"/>
            <a:ext cx="5242560" cy="1456267"/>
          </a:xfrm>
        </p:spPr>
        <p:txBody>
          <a:bodyPr>
            <a:normAutofit/>
          </a:bodyPr>
          <a:lstStyle/>
          <a:p>
            <a:r>
              <a:rPr lang="en-US" sz="4000" dirty="0"/>
              <a:t>RESULTS, Plots and conclusions</a:t>
            </a:r>
          </a:p>
        </p:txBody>
      </p:sp>
    </p:spTree>
    <p:extLst>
      <p:ext uri="{BB962C8B-B14F-4D97-AF65-F5344CB8AC3E}">
        <p14:creationId xmlns:p14="http://schemas.microsoft.com/office/powerpoint/2010/main" val="374158046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192C5B-422D-CCB6-67F9-C6DBA3BE4F8C}"/>
              </a:ext>
            </a:extLst>
          </p:cNvPr>
          <p:cNvPicPr>
            <a:picLocks noChangeAspect="1"/>
          </p:cNvPicPr>
          <p:nvPr/>
        </p:nvPicPr>
        <p:blipFill>
          <a:blip r:embed="rId2"/>
          <a:stretch>
            <a:fillRect/>
          </a:stretch>
        </p:blipFill>
        <p:spPr>
          <a:xfrm>
            <a:off x="706007" y="721537"/>
            <a:ext cx="3063353" cy="5414926"/>
          </a:xfrm>
          <a:prstGeom prst="rect">
            <a:avLst/>
          </a:prstGeom>
        </p:spPr>
      </p:pic>
      <p:pic>
        <p:nvPicPr>
          <p:cNvPr id="7" name="Picture 6">
            <a:extLst>
              <a:ext uri="{FF2B5EF4-FFF2-40B4-BE49-F238E27FC236}">
                <a16:creationId xmlns:a16="http://schemas.microsoft.com/office/drawing/2014/main" id="{381428FD-0998-2EA1-023F-4A2C0CA6D2AD}"/>
              </a:ext>
            </a:extLst>
          </p:cNvPr>
          <p:cNvPicPr>
            <a:picLocks noChangeAspect="1"/>
          </p:cNvPicPr>
          <p:nvPr/>
        </p:nvPicPr>
        <p:blipFill>
          <a:blip r:embed="rId3"/>
          <a:srcRect r="12368"/>
          <a:stretch>
            <a:fillRect/>
          </a:stretch>
        </p:blipFill>
        <p:spPr>
          <a:xfrm>
            <a:off x="8422641" y="1260849"/>
            <a:ext cx="3383376" cy="4399228"/>
          </a:xfrm>
          <a:prstGeom prst="rect">
            <a:avLst/>
          </a:prstGeom>
        </p:spPr>
      </p:pic>
      <p:pic>
        <p:nvPicPr>
          <p:cNvPr id="9" name="Picture 8">
            <a:extLst>
              <a:ext uri="{FF2B5EF4-FFF2-40B4-BE49-F238E27FC236}">
                <a16:creationId xmlns:a16="http://schemas.microsoft.com/office/drawing/2014/main" id="{776BEFBF-AFD9-F2D0-CCEC-DCA98E1A606D}"/>
              </a:ext>
            </a:extLst>
          </p:cNvPr>
          <p:cNvPicPr>
            <a:picLocks noChangeAspect="1"/>
          </p:cNvPicPr>
          <p:nvPr/>
        </p:nvPicPr>
        <p:blipFill>
          <a:blip r:embed="rId4"/>
          <a:stretch>
            <a:fillRect/>
          </a:stretch>
        </p:blipFill>
        <p:spPr>
          <a:xfrm>
            <a:off x="3769359" y="1260849"/>
            <a:ext cx="4653282" cy="4336302"/>
          </a:xfrm>
          <a:prstGeom prst="rect">
            <a:avLst/>
          </a:prstGeom>
        </p:spPr>
      </p:pic>
    </p:spTree>
    <p:extLst>
      <p:ext uri="{BB962C8B-B14F-4D97-AF65-F5344CB8AC3E}">
        <p14:creationId xmlns:p14="http://schemas.microsoft.com/office/powerpoint/2010/main" val="36915698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237D432-45A9-5462-260F-C595E3E9DB6F}"/>
              </a:ext>
            </a:extLst>
          </p:cNvPr>
          <p:cNvPicPr>
            <a:picLocks noGrp="1" noChangeAspect="1"/>
          </p:cNvPicPr>
          <p:nvPr>
            <p:ph idx="1"/>
          </p:nvPr>
        </p:nvPicPr>
        <p:blipFill>
          <a:blip r:embed="rId2"/>
          <a:stretch>
            <a:fillRect/>
          </a:stretch>
        </p:blipFill>
        <p:spPr>
          <a:xfrm>
            <a:off x="1450429" y="590241"/>
            <a:ext cx="9291142" cy="5677518"/>
          </a:xfrm>
          <a:prstGeom prst="rect">
            <a:avLst/>
          </a:prstGeom>
        </p:spPr>
      </p:pic>
    </p:spTree>
    <p:extLst>
      <p:ext uri="{BB962C8B-B14F-4D97-AF65-F5344CB8AC3E}">
        <p14:creationId xmlns:p14="http://schemas.microsoft.com/office/powerpoint/2010/main" val="137882501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3086C5-84D0-7E53-AE53-AF9E7A9A1609}"/>
              </a:ext>
            </a:extLst>
          </p:cNvPr>
          <p:cNvPicPr>
            <a:picLocks noChangeAspect="1"/>
          </p:cNvPicPr>
          <p:nvPr/>
        </p:nvPicPr>
        <p:blipFill>
          <a:blip r:embed="rId2"/>
          <a:stretch>
            <a:fillRect/>
          </a:stretch>
        </p:blipFill>
        <p:spPr>
          <a:xfrm>
            <a:off x="2251558" y="434454"/>
            <a:ext cx="7688884" cy="2871785"/>
          </a:xfrm>
          <a:prstGeom prst="rect">
            <a:avLst/>
          </a:prstGeom>
        </p:spPr>
      </p:pic>
      <p:pic>
        <p:nvPicPr>
          <p:cNvPr id="7" name="Picture 6">
            <a:extLst>
              <a:ext uri="{FF2B5EF4-FFF2-40B4-BE49-F238E27FC236}">
                <a16:creationId xmlns:a16="http://schemas.microsoft.com/office/drawing/2014/main" id="{CB1E6412-DB20-1361-0D58-F2A273B24CEB}"/>
              </a:ext>
            </a:extLst>
          </p:cNvPr>
          <p:cNvPicPr>
            <a:picLocks noChangeAspect="1"/>
          </p:cNvPicPr>
          <p:nvPr/>
        </p:nvPicPr>
        <p:blipFill>
          <a:blip r:embed="rId3"/>
          <a:stretch>
            <a:fillRect/>
          </a:stretch>
        </p:blipFill>
        <p:spPr>
          <a:xfrm>
            <a:off x="2251558" y="3551762"/>
            <a:ext cx="7688884" cy="2940410"/>
          </a:xfrm>
          <a:prstGeom prst="rect">
            <a:avLst/>
          </a:prstGeom>
        </p:spPr>
      </p:pic>
    </p:spTree>
    <p:extLst>
      <p:ext uri="{BB962C8B-B14F-4D97-AF65-F5344CB8AC3E}">
        <p14:creationId xmlns:p14="http://schemas.microsoft.com/office/powerpoint/2010/main" val="110993851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CB4AD46-0994-31C4-F8F8-7F43762B669C}"/>
              </a:ext>
            </a:extLst>
          </p:cNvPr>
          <p:cNvPicPr>
            <a:picLocks noChangeAspect="1"/>
          </p:cNvPicPr>
          <p:nvPr/>
        </p:nvPicPr>
        <p:blipFill>
          <a:blip r:embed="rId2"/>
          <a:stretch>
            <a:fillRect/>
          </a:stretch>
        </p:blipFill>
        <p:spPr>
          <a:xfrm>
            <a:off x="1465149" y="877217"/>
            <a:ext cx="9261701" cy="5103565"/>
          </a:xfrm>
          <a:prstGeom prst="rect">
            <a:avLst/>
          </a:prstGeom>
        </p:spPr>
      </p:pic>
    </p:spTree>
    <p:extLst>
      <p:ext uri="{BB962C8B-B14F-4D97-AF65-F5344CB8AC3E}">
        <p14:creationId xmlns:p14="http://schemas.microsoft.com/office/powerpoint/2010/main" val="302160606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BF821E2-D772-E4D4-64F6-5BAAE05DAB19}"/>
              </a:ext>
            </a:extLst>
          </p:cNvPr>
          <p:cNvPicPr>
            <a:picLocks noGrp="1" noChangeAspect="1"/>
          </p:cNvPicPr>
          <p:nvPr>
            <p:ph idx="1"/>
          </p:nvPr>
        </p:nvPicPr>
        <p:blipFill>
          <a:blip r:embed="rId2"/>
          <a:stretch>
            <a:fillRect/>
          </a:stretch>
        </p:blipFill>
        <p:spPr>
          <a:xfrm>
            <a:off x="1294486" y="783175"/>
            <a:ext cx="9603027" cy="5291650"/>
          </a:xfrm>
          <a:prstGeom prst="rect">
            <a:avLst/>
          </a:prstGeom>
        </p:spPr>
      </p:pic>
    </p:spTree>
    <p:extLst>
      <p:ext uri="{BB962C8B-B14F-4D97-AF65-F5344CB8AC3E}">
        <p14:creationId xmlns:p14="http://schemas.microsoft.com/office/powerpoint/2010/main" val="175081074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25E943-CDC3-F2BF-583E-D41D5AA21EDD}"/>
              </a:ext>
            </a:extLst>
          </p:cNvPr>
          <p:cNvPicPr>
            <a:picLocks noChangeAspect="1"/>
          </p:cNvPicPr>
          <p:nvPr/>
        </p:nvPicPr>
        <p:blipFill>
          <a:blip r:embed="rId2"/>
          <a:stretch>
            <a:fillRect/>
          </a:stretch>
        </p:blipFill>
        <p:spPr>
          <a:xfrm>
            <a:off x="320039" y="3454400"/>
            <a:ext cx="11551920" cy="2928024"/>
          </a:xfrm>
          <a:prstGeom prst="rect">
            <a:avLst/>
          </a:prstGeom>
        </p:spPr>
      </p:pic>
      <p:pic>
        <p:nvPicPr>
          <p:cNvPr id="9" name="Picture 8">
            <a:extLst>
              <a:ext uri="{FF2B5EF4-FFF2-40B4-BE49-F238E27FC236}">
                <a16:creationId xmlns:a16="http://schemas.microsoft.com/office/drawing/2014/main" id="{BD65870C-8348-9908-78E1-B739039A9BC3}"/>
              </a:ext>
            </a:extLst>
          </p:cNvPr>
          <p:cNvPicPr>
            <a:picLocks noChangeAspect="1"/>
          </p:cNvPicPr>
          <p:nvPr/>
        </p:nvPicPr>
        <p:blipFill>
          <a:blip r:embed="rId3"/>
          <a:stretch>
            <a:fillRect/>
          </a:stretch>
        </p:blipFill>
        <p:spPr>
          <a:xfrm>
            <a:off x="1278192" y="327507"/>
            <a:ext cx="9635614" cy="2987432"/>
          </a:xfrm>
          <a:prstGeom prst="rect">
            <a:avLst/>
          </a:prstGeom>
        </p:spPr>
      </p:pic>
    </p:spTree>
    <p:extLst>
      <p:ext uri="{BB962C8B-B14F-4D97-AF65-F5344CB8AC3E}">
        <p14:creationId xmlns:p14="http://schemas.microsoft.com/office/powerpoint/2010/main" val="168759946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F955BA3-8BC1-3C78-5763-135A97156F20}"/>
              </a:ext>
            </a:extLst>
          </p:cNvPr>
          <p:cNvPicPr>
            <a:picLocks noGrp="1" noChangeAspect="1"/>
          </p:cNvPicPr>
          <p:nvPr>
            <p:ph idx="1"/>
          </p:nvPr>
        </p:nvPicPr>
        <p:blipFill>
          <a:blip r:embed="rId2"/>
          <a:stretch>
            <a:fillRect/>
          </a:stretch>
        </p:blipFill>
        <p:spPr>
          <a:xfrm>
            <a:off x="349105" y="1698536"/>
            <a:ext cx="5606129" cy="3460927"/>
          </a:xfrm>
          <a:prstGeom prst="rect">
            <a:avLst/>
          </a:prstGeom>
        </p:spPr>
      </p:pic>
      <p:pic>
        <p:nvPicPr>
          <p:cNvPr id="7" name="Picture 6">
            <a:extLst>
              <a:ext uri="{FF2B5EF4-FFF2-40B4-BE49-F238E27FC236}">
                <a16:creationId xmlns:a16="http://schemas.microsoft.com/office/drawing/2014/main" id="{487B2B34-5938-4B3A-5A67-0F17C99BBCF3}"/>
              </a:ext>
            </a:extLst>
          </p:cNvPr>
          <p:cNvPicPr>
            <a:picLocks noChangeAspect="1"/>
          </p:cNvPicPr>
          <p:nvPr/>
        </p:nvPicPr>
        <p:blipFill>
          <a:blip r:embed="rId3"/>
          <a:stretch>
            <a:fillRect/>
          </a:stretch>
        </p:blipFill>
        <p:spPr>
          <a:xfrm>
            <a:off x="6236767" y="1698536"/>
            <a:ext cx="5606130" cy="3460927"/>
          </a:xfrm>
          <a:prstGeom prst="rect">
            <a:avLst/>
          </a:prstGeom>
        </p:spPr>
      </p:pic>
    </p:spTree>
    <p:extLst>
      <p:ext uri="{BB962C8B-B14F-4D97-AF65-F5344CB8AC3E}">
        <p14:creationId xmlns:p14="http://schemas.microsoft.com/office/powerpoint/2010/main" val="37145428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B1B180-34DA-91D5-40F7-06FA17583332}"/>
              </a:ext>
            </a:extLst>
          </p:cNvPr>
          <p:cNvPicPr>
            <a:picLocks noChangeAspect="1"/>
          </p:cNvPicPr>
          <p:nvPr/>
        </p:nvPicPr>
        <p:blipFill>
          <a:blip r:embed="rId2"/>
          <a:stretch>
            <a:fillRect/>
          </a:stretch>
        </p:blipFill>
        <p:spPr>
          <a:xfrm>
            <a:off x="391802" y="1592826"/>
            <a:ext cx="5600521" cy="3457465"/>
          </a:xfrm>
          <a:prstGeom prst="rect">
            <a:avLst/>
          </a:prstGeom>
        </p:spPr>
      </p:pic>
      <p:pic>
        <p:nvPicPr>
          <p:cNvPr id="7" name="Picture 6">
            <a:extLst>
              <a:ext uri="{FF2B5EF4-FFF2-40B4-BE49-F238E27FC236}">
                <a16:creationId xmlns:a16="http://schemas.microsoft.com/office/drawing/2014/main" id="{081188D4-1BB0-FDB5-7E43-7D8EF9158035}"/>
              </a:ext>
            </a:extLst>
          </p:cNvPr>
          <p:cNvPicPr>
            <a:picLocks noChangeAspect="1"/>
          </p:cNvPicPr>
          <p:nvPr/>
        </p:nvPicPr>
        <p:blipFill>
          <a:blip r:embed="rId3"/>
          <a:stretch>
            <a:fillRect/>
          </a:stretch>
        </p:blipFill>
        <p:spPr>
          <a:xfrm>
            <a:off x="6199679" y="1592826"/>
            <a:ext cx="5600522" cy="3457465"/>
          </a:xfrm>
          <a:prstGeom prst="rect">
            <a:avLst/>
          </a:prstGeom>
        </p:spPr>
      </p:pic>
    </p:spTree>
    <p:extLst>
      <p:ext uri="{BB962C8B-B14F-4D97-AF65-F5344CB8AC3E}">
        <p14:creationId xmlns:p14="http://schemas.microsoft.com/office/powerpoint/2010/main" val="201061797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072964-F156-6B7D-D206-FD38224E1731}"/>
              </a:ext>
            </a:extLst>
          </p:cNvPr>
          <p:cNvPicPr>
            <a:picLocks noChangeAspect="1"/>
          </p:cNvPicPr>
          <p:nvPr/>
        </p:nvPicPr>
        <p:blipFill>
          <a:blip r:embed="rId2"/>
          <a:stretch>
            <a:fillRect/>
          </a:stretch>
        </p:blipFill>
        <p:spPr>
          <a:xfrm>
            <a:off x="894736" y="3540517"/>
            <a:ext cx="5061155" cy="3124489"/>
          </a:xfrm>
          <a:prstGeom prst="rect">
            <a:avLst/>
          </a:prstGeom>
        </p:spPr>
      </p:pic>
      <p:pic>
        <p:nvPicPr>
          <p:cNvPr id="7" name="Picture 6">
            <a:extLst>
              <a:ext uri="{FF2B5EF4-FFF2-40B4-BE49-F238E27FC236}">
                <a16:creationId xmlns:a16="http://schemas.microsoft.com/office/drawing/2014/main" id="{5854B1F9-5E14-26CD-2813-D9608D5A2A76}"/>
              </a:ext>
            </a:extLst>
          </p:cNvPr>
          <p:cNvPicPr>
            <a:picLocks noChangeAspect="1"/>
          </p:cNvPicPr>
          <p:nvPr/>
        </p:nvPicPr>
        <p:blipFill>
          <a:blip r:embed="rId3"/>
          <a:stretch>
            <a:fillRect/>
          </a:stretch>
        </p:blipFill>
        <p:spPr>
          <a:xfrm>
            <a:off x="1206910" y="285850"/>
            <a:ext cx="9778180" cy="3031633"/>
          </a:xfrm>
          <a:prstGeom prst="rect">
            <a:avLst/>
          </a:prstGeom>
        </p:spPr>
      </p:pic>
      <p:pic>
        <p:nvPicPr>
          <p:cNvPr id="9" name="Picture 8">
            <a:extLst>
              <a:ext uri="{FF2B5EF4-FFF2-40B4-BE49-F238E27FC236}">
                <a16:creationId xmlns:a16="http://schemas.microsoft.com/office/drawing/2014/main" id="{822E48F7-C4E8-2C6B-5CCC-753A37AEA001}"/>
              </a:ext>
            </a:extLst>
          </p:cNvPr>
          <p:cNvPicPr>
            <a:picLocks noChangeAspect="1"/>
          </p:cNvPicPr>
          <p:nvPr/>
        </p:nvPicPr>
        <p:blipFill>
          <a:blip r:embed="rId4"/>
          <a:stretch>
            <a:fillRect/>
          </a:stretch>
        </p:blipFill>
        <p:spPr>
          <a:xfrm>
            <a:off x="6236110" y="3540517"/>
            <a:ext cx="5061155" cy="3124489"/>
          </a:xfrm>
          <a:prstGeom prst="rect">
            <a:avLst/>
          </a:prstGeom>
        </p:spPr>
      </p:pic>
    </p:spTree>
    <p:extLst>
      <p:ext uri="{BB962C8B-B14F-4D97-AF65-F5344CB8AC3E}">
        <p14:creationId xmlns:p14="http://schemas.microsoft.com/office/powerpoint/2010/main" val="379203063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E1B05C7-302E-3882-4F28-0124C1022523}"/>
              </a:ext>
            </a:extLst>
          </p:cNvPr>
          <p:cNvPicPr>
            <a:picLocks noGrp="1" noChangeAspect="1"/>
          </p:cNvPicPr>
          <p:nvPr>
            <p:ph idx="1"/>
          </p:nvPr>
        </p:nvPicPr>
        <p:blipFill>
          <a:blip r:embed="rId2"/>
          <a:stretch>
            <a:fillRect/>
          </a:stretch>
        </p:blipFill>
        <p:spPr>
          <a:xfrm>
            <a:off x="472966" y="1677364"/>
            <a:ext cx="11383719" cy="3503272"/>
          </a:xfrm>
          <a:prstGeom prst="rect">
            <a:avLst/>
          </a:prstGeom>
        </p:spPr>
      </p:pic>
    </p:spTree>
    <p:extLst>
      <p:ext uri="{BB962C8B-B14F-4D97-AF65-F5344CB8AC3E}">
        <p14:creationId xmlns:p14="http://schemas.microsoft.com/office/powerpoint/2010/main" val="79010724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BA58406-BA80-E534-E63C-3AD85105A10E}"/>
              </a:ext>
            </a:extLst>
          </p:cNvPr>
          <p:cNvPicPr>
            <a:picLocks noGrp="1" noChangeAspect="1"/>
          </p:cNvPicPr>
          <p:nvPr>
            <p:ph idx="1"/>
          </p:nvPr>
        </p:nvPicPr>
        <p:blipFill>
          <a:blip r:embed="rId2"/>
          <a:stretch>
            <a:fillRect/>
          </a:stretch>
        </p:blipFill>
        <p:spPr>
          <a:xfrm>
            <a:off x="516098" y="1307690"/>
            <a:ext cx="5579902" cy="3942735"/>
          </a:xfrm>
          <a:prstGeom prst="rect">
            <a:avLst/>
          </a:prstGeom>
        </p:spPr>
      </p:pic>
      <p:pic>
        <p:nvPicPr>
          <p:cNvPr id="7" name="Picture 6">
            <a:extLst>
              <a:ext uri="{FF2B5EF4-FFF2-40B4-BE49-F238E27FC236}">
                <a16:creationId xmlns:a16="http://schemas.microsoft.com/office/drawing/2014/main" id="{31D4622E-3731-7B11-BE5B-2D420FCAAFC1}"/>
              </a:ext>
            </a:extLst>
          </p:cNvPr>
          <p:cNvPicPr>
            <a:picLocks noChangeAspect="1"/>
          </p:cNvPicPr>
          <p:nvPr/>
        </p:nvPicPr>
        <p:blipFill>
          <a:blip r:embed="rId3"/>
          <a:stretch>
            <a:fillRect/>
          </a:stretch>
        </p:blipFill>
        <p:spPr>
          <a:xfrm>
            <a:off x="6243182" y="1307690"/>
            <a:ext cx="5579903" cy="3942735"/>
          </a:xfrm>
          <a:prstGeom prst="rect">
            <a:avLst/>
          </a:prstGeom>
        </p:spPr>
      </p:pic>
    </p:spTree>
    <p:extLst>
      <p:ext uri="{BB962C8B-B14F-4D97-AF65-F5344CB8AC3E}">
        <p14:creationId xmlns:p14="http://schemas.microsoft.com/office/powerpoint/2010/main" val="106140363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A407DD3-FACF-D672-3558-A09508DF3457}"/>
              </a:ext>
            </a:extLst>
          </p:cNvPr>
          <p:cNvPicPr>
            <a:picLocks noGrp="1" noChangeAspect="1"/>
          </p:cNvPicPr>
          <p:nvPr>
            <p:ph idx="1"/>
          </p:nvPr>
        </p:nvPicPr>
        <p:blipFill>
          <a:blip r:embed="rId2"/>
          <a:stretch>
            <a:fillRect/>
          </a:stretch>
        </p:blipFill>
        <p:spPr>
          <a:xfrm>
            <a:off x="603710" y="1493557"/>
            <a:ext cx="5384134" cy="3649662"/>
          </a:xfrm>
          <a:prstGeom prst="rect">
            <a:avLst/>
          </a:prstGeom>
        </p:spPr>
      </p:pic>
      <p:pic>
        <p:nvPicPr>
          <p:cNvPr id="7" name="Picture 6">
            <a:extLst>
              <a:ext uri="{FF2B5EF4-FFF2-40B4-BE49-F238E27FC236}">
                <a16:creationId xmlns:a16="http://schemas.microsoft.com/office/drawing/2014/main" id="{795CF108-49EF-708B-FABC-4B3DD5BC643F}"/>
              </a:ext>
            </a:extLst>
          </p:cNvPr>
          <p:cNvPicPr>
            <a:picLocks noChangeAspect="1"/>
          </p:cNvPicPr>
          <p:nvPr/>
        </p:nvPicPr>
        <p:blipFill>
          <a:blip r:embed="rId3"/>
          <a:stretch>
            <a:fillRect/>
          </a:stretch>
        </p:blipFill>
        <p:spPr>
          <a:xfrm>
            <a:off x="6359504" y="1493557"/>
            <a:ext cx="5384134" cy="3659725"/>
          </a:xfrm>
          <a:prstGeom prst="rect">
            <a:avLst/>
          </a:prstGeom>
        </p:spPr>
      </p:pic>
    </p:spTree>
    <p:extLst>
      <p:ext uri="{BB962C8B-B14F-4D97-AF65-F5344CB8AC3E}">
        <p14:creationId xmlns:p14="http://schemas.microsoft.com/office/powerpoint/2010/main" val="343845990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DB044AC-9837-FFF2-2656-2B08CACBAF2A}"/>
              </a:ext>
            </a:extLst>
          </p:cNvPr>
          <p:cNvPicPr>
            <a:picLocks noGrp="1" noChangeAspect="1"/>
          </p:cNvPicPr>
          <p:nvPr>
            <p:ph idx="1"/>
          </p:nvPr>
        </p:nvPicPr>
        <p:blipFill>
          <a:blip r:embed="rId2"/>
          <a:stretch>
            <a:fillRect/>
          </a:stretch>
        </p:blipFill>
        <p:spPr>
          <a:xfrm>
            <a:off x="382587" y="1657610"/>
            <a:ext cx="11426825" cy="3542780"/>
          </a:xfrm>
          <a:prstGeom prst="rect">
            <a:avLst/>
          </a:prstGeom>
        </p:spPr>
      </p:pic>
    </p:spTree>
    <p:extLst>
      <p:ext uri="{BB962C8B-B14F-4D97-AF65-F5344CB8AC3E}">
        <p14:creationId xmlns:p14="http://schemas.microsoft.com/office/powerpoint/2010/main" val="162933402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4A6D196-06DC-51F2-D9FE-CE97DE98252D}"/>
              </a:ext>
            </a:extLst>
          </p:cNvPr>
          <p:cNvPicPr>
            <a:picLocks noGrp="1" noChangeAspect="1"/>
          </p:cNvPicPr>
          <p:nvPr>
            <p:ph idx="1"/>
          </p:nvPr>
        </p:nvPicPr>
        <p:blipFill>
          <a:blip r:embed="rId2"/>
          <a:stretch>
            <a:fillRect/>
          </a:stretch>
        </p:blipFill>
        <p:spPr>
          <a:xfrm>
            <a:off x="5521215" y="1644444"/>
            <a:ext cx="6409705" cy="3569110"/>
          </a:xfrm>
          <a:prstGeom prst="rect">
            <a:avLst/>
          </a:prstGeom>
        </p:spPr>
      </p:pic>
      <p:pic>
        <p:nvPicPr>
          <p:cNvPr id="7" name="Picture 6">
            <a:extLst>
              <a:ext uri="{FF2B5EF4-FFF2-40B4-BE49-F238E27FC236}">
                <a16:creationId xmlns:a16="http://schemas.microsoft.com/office/drawing/2014/main" id="{CFA1BF18-D9BB-BF6C-29E0-008622B56A60}"/>
              </a:ext>
            </a:extLst>
          </p:cNvPr>
          <p:cNvPicPr>
            <a:picLocks noChangeAspect="1"/>
          </p:cNvPicPr>
          <p:nvPr/>
        </p:nvPicPr>
        <p:blipFill>
          <a:blip r:embed="rId3"/>
          <a:stretch>
            <a:fillRect/>
          </a:stretch>
        </p:blipFill>
        <p:spPr>
          <a:xfrm>
            <a:off x="349571" y="1579098"/>
            <a:ext cx="4933071" cy="3699803"/>
          </a:xfrm>
          <a:prstGeom prst="rect">
            <a:avLst/>
          </a:prstGeom>
        </p:spPr>
      </p:pic>
    </p:spTree>
    <p:extLst>
      <p:ext uri="{BB962C8B-B14F-4D97-AF65-F5344CB8AC3E}">
        <p14:creationId xmlns:p14="http://schemas.microsoft.com/office/powerpoint/2010/main" val="42675075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63427E4-933F-153D-F7C2-E06E80B88689}"/>
              </a:ext>
            </a:extLst>
          </p:cNvPr>
          <p:cNvPicPr>
            <a:picLocks noGrp="1" noChangeAspect="1"/>
          </p:cNvPicPr>
          <p:nvPr>
            <p:ph idx="1"/>
          </p:nvPr>
        </p:nvPicPr>
        <p:blipFill>
          <a:blip r:embed="rId2"/>
          <a:stretch>
            <a:fillRect/>
          </a:stretch>
        </p:blipFill>
        <p:spPr>
          <a:xfrm>
            <a:off x="1865641" y="1097904"/>
            <a:ext cx="8460717" cy="4662192"/>
          </a:xfrm>
          <a:prstGeom prst="rect">
            <a:avLst/>
          </a:prstGeom>
        </p:spPr>
      </p:pic>
    </p:spTree>
    <p:extLst>
      <p:ext uri="{BB962C8B-B14F-4D97-AF65-F5344CB8AC3E}">
        <p14:creationId xmlns:p14="http://schemas.microsoft.com/office/powerpoint/2010/main" val="181692765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DCDA2-3B71-E81C-0538-0D86AA13E1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DB0A68-B3D2-2D14-D1FB-F7A5F42B323C}"/>
              </a:ext>
            </a:extLst>
          </p:cNvPr>
          <p:cNvSpPr>
            <a:spLocks noGrp="1"/>
          </p:cNvSpPr>
          <p:nvPr>
            <p:ph type="title"/>
          </p:nvPr>
        </p:nvSpPr>
        <p:spPr>
          <a:xfrm>
            <a:off x="4272280" y="2700866"/>
            <a:ext cx="3647440" cy="1456267"/>
          </a:xfrm>
        </p:spPr>
        <p:txBody>
          <a:bodyPr>
            <a:normAutofit/>
          </a:bodyPr>
          <a:lstStyle/>
          <a:p>
            <a:r>
              <a:rPr lang="en-US" sz="5400" dirty="0"/>
              <a:t>Thank you</a:t>
            </a:r>
          </a:p>
        </p:txBody>
      </p:sp>
    </p:spTree>
    <p:extLst>
      <p:ext uri="{BB962C8B-B14F-4D97-AF65-F5344CB8AC3E}">
        <p14:creationId xmlns:p14="http://schemas.microsoft.com/office/powerpoint/2010/main" val="165020699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
  <TotalTime>405</TotalTime>
  <Words>1249</Words>
  <Application>Microsoft Office PowerPoint</Application>
  <PresentationFormat>Widescreen</PresentationFormat>
  <Paragraphs>102</Paragraphs>
  <Slides>40</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40</vt:i4>
      </vt:variant>
    </vt:vector>
  </HeadingPairs>
  <TitlesOfParts>
    <vt:vector size="52" baseType="lpstr">
      <vt:lpstr>Algerian</vt:lpstr>
      <vt:lpstr>Aptos</vt:lpstr>
      <vt:lpstr>Arial</vt:lpstr>
      <vt:lpstr>Calibri</vt:lpstr>
      <vt:lpstr>Calibri Light</vt:lpstr>
      <vt:lpstr>Cambria Math</vt:lpstr>
      <vt:lpstr>CMBX12</vt:lpstr>
      <vt:lpstr>CMMI12</vt:lpstr>
      <vt:lpstr>CMMI8</vt:lpstr>
      <vt:lpstr>CMR12</vt:lpstr>
      <vt:lpstr>SFRM1200</vt:lpstr>
      <vt:lpstr>Celestial</vt:lpstr>
      <vt:lpstr>IITI-SoC 2026  Astronomy domain PS:- Modeling THE structure of PROTOPLANETARY DISCS   TEAM Members :- VEDANT , YASH SHIVAM , samyak</vt:lpstr>
      <vt:lpstr>INTRODUCTION</vt:lpstr>
      <vt:lpstr>PowerPoint Presentation</vt:lpstr>
      <vt:lpstr>PowerPoint Presentation</vt:lpstr>
      <vt:lpstr>PowerPoint Presentation</vt:lpstr>
      <vt:lpstr>PowerPoint Presentation</vt:lpstr>
      <vt:lpstr>PowerPoint Presentation</vt:lpstr>
      <vt:lpstr>PowerPoint Presentation</vt:lpstr>
      <vt:lpstr>Physical Assumptions</vt:lpstr>
      <vt:lpstr>PowerPoint Presentation</vt:lpstr>
      <vt:lpstr>PowerPoint Presentation</vt:lpstr>
      <vt:lpstr>PowerPoint Presentation</vt:lpstr>
      <vt:lpstr>Static Disk Approximation</vt:lpstr>
      <vt:lpstr>PowerPoint Presentation</vt:lpstr>
      <vt:lpstr>PowerPoint Presentation</vt:lpstr>
      <vt:lpstr>PowerPoint Presentation</vt:lpstr>
      <vt:lpstr>Mathematical model</vt:lpstr>
      <vt:lpstr>PowerPoint Presentation</vt:lpstr>
      <vt:lpstr>PowerPoint Presentation</vt:lpstr>
      <vt:lpstr>PowerPoint Presentation</vt:lpstr>
      <vt:lpstr>PowerPoint Presentation</vt:lpstr>
      <vt:lpstr>PowerPoint Presentation</vt:lpstr>
      <vt:lpstr>PowerPoint Presentation</vt:lpstr>
      <vt:lpstr>RESULTS, Plots and conclusions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Vedant Sahu</dc:creator>
  <cp:lastModifiedBy>Vedant Sahu</cp:lastModifiedBy>
  <cp:revision>5</cp:revision>
  <dcterms:created xsi:type="dcterms:W3CDTF">2026-08-03T17:43:10Z</dcterms:created>
  <dcterms:modified xsi:type="dcterms:W3CDTF">2026-08-06T20:49:09Z</dcterms:modified>
</cp:coreProperties>
</file>